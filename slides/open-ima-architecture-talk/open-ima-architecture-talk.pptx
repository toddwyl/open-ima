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loud.tencent.com/developer/article/2608466" TargetMode="External"/><Relationship Id="rId3" Type="http://schemas.openxmlformats.org/officeDocument/2006/relationships/hyperlink" Target="https://developer.cloud.tencent.com/article/2747411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35000" y="5842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300" kern="0">
                <a:solidFill>
                  <a:srgbClr val="75756C"/>
                </a:solidFill>
                <a:latin typeface="MiSans"/>
                <a:ea typeface="MiSans"/>
              </a:rPr>
              <a:t>ARCHITECTURE SHARE · 2026-09 · 面试技术分享材料</a:t>
            </a:r>
            <a:endParaRPr lang="en-US" sz="1100" noProof="1"/>
          </a:p>
        </p:txBody>
      </p:sp>
      <p:sp>
        <p:nvSpPr>
          <p:cNvPr id="3" name="title-bar"/>
          <p:cNvSpPr/>
          <p:nvPr/>
        </p:nvSpPr>
        <p:spPr>
          <a:xfrm>
            <a:off x="635000" y="1905000"/>
            <a:ext cx="558800" cy="508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635000" y="2108200"/>
            <a:ext cx="10922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200" noProof="1" b="1">
                <a:solidFill>
                  <a:srgbClr val="1B1B18"/>
                </a:solidFill>
                <a:latin typeface="MiSans"/>
                <a:ea typeface="MiSans"/>
              </a:rPr>
              <a:t>ima 知识库架构的本地化复刻</a:t>
            </a:r>
            <a:endParaRPr lang="en-US" sz="4200" noProof="1"/>
          </a:p>
        </p:txBody>
      </p:sp>
      <p:sp>
        <p:nvSpPr>
          <p:cNvPr id="5" name="subtitle"/>
          <p:cNvSpPr txBox="1"/>
          <p:nvPr/>
        </p:nvSpPr>
        <p:spPr>
          <a:xfrm>
            <a:off x="635000" y="2971800"/>
            <a:ext cx="1092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75756C"/>
                </a:solidFill>
                <a:latin typeface="MiSans"/>
                <a:ea typeface="MiSans"/>
              </a:rPr>
              <a:t>open-ima —— 参考腾讯 ima 两篇公开架构实践，在单机约束下重新推导一套个人知识库系统</a:t>
            </a:r>
            <a:endParaRPr lang="en-US" sz="1500" noProof="1"/>
          </a:p>
        </p:txBody>
      </p:sp>
      <p:sp>
        <p:nvSpPr>
          <p:cNvPr id="6" name="left-box"/>
          <p:cNvSpPr/>
          <p:nvPr/>
        </p:nvSpPr>
        <p:spPr>
          <a:xfrm>
            <a:off x="635000" y="4826000"/>
            <a:ext cx="4191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7" name="left-title"/>
          <p:cNvSpPr txBox="1"/>
          <p:nvPr/>
        </p:nvSpPr>
        <p:spPr>
          <a:xfrm>
            <a:off x="838200" y="4978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3E5C76"/>
                </a:solidFill>
                <a:latin typeface="MiSans"/>
                <a:ea typeface="MiSans"/>
              </a:rPr>
              <a:t>他们 · 腾讯 ima</a:t>
            </a:r>
            <a:endParaRPr lang="en-US" sz="1400" noProof="1"/>
          </a:p>
        </p:txBody>
      </p:sp>
      <p:sp>
        <p:nvSpPr>
          <p:cNvPr id="8" name="left-desc"/>
          <p:cNvSpPr txBox="1"/>
          <p:nvPr/>
        </p:nvSpPr>
        <p:spPr>
          <a:xfrm>
            <a:off x="838200" y="52832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云端多租户 SaaS · 微服务集群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千万级知识库 · 近千亿级数据</a:t>
            </a:r>
            <a:endParaRPr lang="en-US" sz="1100" noProof="1"/>
          </a:p>
        </p:txBody>
      </p:sp>
      <p:sp>
        <p:nvSpPr>
          <p:cNvPr id="9" name="right-box"/>
          <p:cNvSpPr/>
          <p:nvPr/>
        </p:nvSpPr>
        <p:spPr>
          <a:xfrm>
            <a:off x="7366000" y="4826000"/>
            <a:ext cx="4191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10" name="right-title"/>
          <p:cNvSpPr txBox="1"/>
          <p:nvPr/>
        </p:nvSpPr>
        <p:spPr>
          <a:xfrm>
            <a:off x="7569200" y="4978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45309"/>
                </a:solidFill>
                <a:latin typeface="MiSans"/>
                <a:ea typeface="MiSans"/>
              </a:rPr>
              <a:t>我们 · open-ima</a:t>
            </a:r>
            <a:endParaRPr lang="en-US" sz="1400" noProof="1"/>
          </a:p>
        </p:txBody>
      </p:sp>
      <p:sp>
        <p:nvSpPr>
          <p:cNvPr id="11" name="right-desc"/>
          <p:cNvSpPr txBox="1"/>
          <p:nvPr/>
        </p:nvSpPr>
        <p:spPr>
          <a:xfrm>
            <a:off x="7569200" y="52832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本地单机部署 · 独立个人知识库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四个进程 · 数据不出本机</a:t>
            </a:r>
            <a:endParaRPr lang="en-US" sz="1100" noProof="1"/>
          </a:p>
        </p:txBody>
      </p:sp>
      <p:sp>
        <p:nvSpPr>
          <p:cNvPr id="12" name="mid-label"/>
          <p:cNvSpPr txBox="1"/>
          <p:nvPr/>
        </p:nvSpPr>
        <p:spPr>
          <a:xfrm>
            <a:off x="4953000" y="50546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050" noProof="1">
                <a:solidFill>
                  <a:srgbClr val="75756C"/>
                </a:solidFill>
                <a:latin typeface="MiSans"/>
                <a:ea typeface="MiSans"/>
              </a:rPr>
              <a:t>同一套方法论 · 不同的权衡</a:t>
            </a:r>
            <a:endParaRPr lang="en-US" sz="1050" noProof="1"/>
          </a:p>
        </p:txBody>
      </p:sp>
      <p:sp>
        <p:nvSpPr>
          <p:cNvPr id="13" name="mid-arrow"/>
          <p:cNvSpPr/>
          <p:nvPr>
            <p:extLst>
              <p:ext uri="{F5677B7D-0D2A-4D9B-9A5C-6D8D7D0E5A5D}">
                <pptd:line encoding="base64url">eyJ2aWV3Qm94IjpbMSwxXSwicG9pbnRzIjoiMCwwLjUgMSwwLjUiLCJjdXJ2ZSI6InNoYXJwIn0</pptd:line>
              </p:ext>
            </p:extLst>
          </p:nvPr>
        </p:nvSpPr>
        <p:spPr>
          <a:xfrm>
            <a:off x="5080000" y="5359400"/>
            <a:ext cx="20320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headEnd type="arrow"/>
            <a:tailEnd type="arrow"/>
          </a:ln>
        </p:spPr>
      </p:sp>
      <p:sp>
        <p:nvSpPr>
          <p:cNvPr id="14" name="footer-rule"/>
          <p:cNvSpPr/>
          <p:nvPr/>
        </p:nvSpPr>
        <p:spPr>
          <a:xfrm>
            <a:off x="635000" y="64516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635000" y="65532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open-ima architecture talk</a:t>
            </a:r>
            <a:endParaRPr lang="en-US" sz="9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35000" y="431800"/>
            <a:ext cx="965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75756C"/>
                </a:solidFill>
                <a:latin typeface="MiSans"/>
                <a:ea typeface="MiSans"/>
              </a:rPr>
              <a:t>01 · 定位与背景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35000" y="660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1B1B18"/>
                </a:solidFill>
                <a:latin typeface="MiSans"/>
                <a:ea typeface="MiSans"/>
              </a:rPr>
              <a:t>同一个知识库问题，两种完全不同的约束条件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35000" y="12700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5" name="left-head"/>
          <p:cNvSpPr txBox="1"/>
          <p:nvPr/>
        </p:nvSpPr>
        <p:spPr>
          <a:xfrm>
            <a:off x="635000" y="16002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3E5C76"/>
                </a:solidFill>
                <a:latin typeface="MiSans"/>
                <a:ea typeface="MiSans"/>
              </a:rPr>
              <a:t>他们 · 腾讯 ima</a:t>
            </a:r>
            <a:endParaRPr lang="en-US" sz="1500" noProof="1"/>
          </a:p>
        </p:txBody>
      </p:sp>
      <p:sp>
        <p:nvSpPr>
          <p:cNvPr id="6" name="left-sub"/>
          <p:cNvSpPr txBox="1"/>
          <p:nvPr/>
        </p:nvSpPr>
        <p:spPr>
          <a:xfrm>
            <a:off x="635000" y="1905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云端 AI 工作台 ima 的知识库后端</a:t>
            </a:r>
            <a:endParaRPr lang="en-US" sz="1100" noProof="1"/>
          </a:p>
        </p:txBody>
      </p:sp>
      <p:sp>
        <p:nvSpPr>
          <p:cNvPr id="7" name="left-body"/>
          <p:cNvSpPr txBox="1"/>
          <p:nvPr/>
        </p:nvSpPr>
        <p:spPr>
          <a:xfrm>
            <a:off x="635000" y="2311400"/>
            <a:ext cx="50800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1B1B18"/>
                </a:solidFill>
                <a:latin typeface="MiSans"/>
                <a:ea typeface="MiSans"/>
              </a:rPr>
              <a:t>· 千万级知识库，ES 侧近千亿级数据</a:t>
            </a:r>
            <a:endParaRPr lang="en-US" sz="1300" noProof="1"/>
          </a:p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1B1B18"/>
                </a:solidFill>
                <a:latin typeface="MiSans"/>
                <a:ea typeface="MiSans"/>
              </a:rPr>
              <a:t>· 多租户团队协作，权限体系是生命线</a:t>
            </a:r>
            <a:endParaRPr lang="en-US" sz="1300" noProof="1"/>
          </a:p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1B1B18"/>
                </a:solidFill>
                <a:latin typeface="MiSans"/>
                <a:ea typeface="MiSans"/>
              </a:rPr>
              <a:t>· 从单体演进到高并发、高可用的微服务集群</a:t>
            </a:r>
            <a:endParaRPr lang="en-US" sz="1300" noProof="1"/>
          </a:p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1B1B18"/>
                </a:solidFill>
                <a:latin typeface="MiSans"/>
                <a:ea typeface="MiSans"/>
              </a:rPr>
              <a:t>· 一套 ES 引擎同时承载全文、向量与混合检索</a:t>
            </a:r>
            <a:endParaRPr lang="en-US" sz="1300" noProof="1"/>
          </a:p>
        </p:txBody>
      </p:sp>
      <p:sp>
        <p:nvSpPr>
          <p:cNvPr id="8" name="divider"/>
          <p:cNvSpPr/>
          <p:nvPr/>
        </p:nvSpPr>
        <p:spPr>
          <a:xfrm>
            <a:off x="6197600" y="1905000"/>
            <a:ext cx="12700" cy="28448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9" name="right-head"/>
          <p:cNvSpPr txBox="1"/>
          <p:nvPr/>
        </p:nvSpPr>
        <p:spPr>
          <a:xfrm>
            <a:off x="6654800" y="1600200"/>
            <a:ext cx="49022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B45309"/>
                </a:solidFill>
                <a:latin typeface="MiSans"/>
                <a:ea typeface="MiSans"/>
              </a:rPr>
              <a:t>我们 · open-ima</a:t>
            </a:r>
            <a:endParaRPr lang="en-US" sz="1500" noProof="1"/>
          </a:p>
        </p:txBody>
      </p:sp>
      <p:sp>
        <p:nvSpPr>
          <p:cNvPr id="10" name="right-sub"/>
          <p:cNvSpPr txBox="1"/>
          <p:nvPr/>
        </p:nvSpPr>
        <p:spPr>
          <a:xfrm>
            <a:off x="6654800" y="1905000"/>
            <a:ext cx="4902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ima 知识库能力的本地部署复刻版</a:t>
            </a:r>
            <a:endParaRPr lang="en-US" sz="1100" noProof="1"/>
          </a:p>
        </p:txBody>
      </p:sp>
      <p:sp>
        <p:nvSpPr>
          <p:cNvPr id="11" name="right-body"/>
          <p:cNvSpPr txBox="1"/>
          <p:nvPr/>
        </p:nvSpPr>
        <p:spPr>
          <a:xfrm>
            <a:off x="6654800" y="2311400"/>
            <a:ext cx="49022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1B1B18"/>
                </a:solidFill>
                <a:latin typeface="MiSans"/>
                <a:ea typeface="MiSans"/>
              </a:rPr>
              <a:t>· 单机单用户：每个人的独立个人知识库</a:t>
            </a:r>
            <a:endParaRPr lang="en-US" sz="1300" noProof="1"/>
          </a:p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1B1B18"/>
                </a:solidFill>
                <a:latin typeface="MiSans"/>
                <a:ea typeface="MiSans"/>
              </a:rPr>
              <a:t>· 数据全部落在本机 ./data，文档不出本机</a:t>
            </a:r>
            <a:endParaRPr lang="en-US" sz="1300" noProof="1"/>
          </a:p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1B1B18"/>
                </a:solidFill>
                <a:latin typeface="MiSans"/>
                <a:ea typeface="MiSans"/>
              </a:rPr>
              <a:t>· 四个进程 compose 一键启动，零运维</a:t>
            </a:r>
            <a:endParaRPr lang="en-US" sz="1300" noProof="1"/>
          </a:p>
          <a:p>
            <a:pPr>
              <a:lnSpc>
                <a:spcPct val="190000"/>
              </a:lnSpc>
            </a:pPr>
            <a:r>
              <a:rPr lang="en-US" sz="1300" noProof="1">
                <a:solidFill>
                  <a:srgbClr val="1B1B18"/>
                </a:solidFill>
                <a:latin typeface="MiSans"/>
                <a:ea typeface="MiSans"/>
              </a:rPr>
              <a:t>· 单机闭环：Embedding 由本地 Ollama bge-m3 完成</a:t>
            </a:r>
            <a:endParaRPr lang="en-US" sz="1300" noProof="1"/>
          </a:p>
        </p:txBody>
      </p:sp>
      <p:sp>
        <p:nvSpPr>
          <p:cNvPr id="12" name="src-rule"/>
          <p:cNvSpPr/>
          <p:nvPr/>
        </p:nvSpPr>
        <p:spPr>
          <a:xfrm>
            <a:off x="635000" y="52324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13" name="src-label"/>
          <p:cNvSpPr txBox="1"/>
          <p:nvPr/>
        </p:nvSpPr>
        <p:spPr>
          <a:xfrm>
            <a:off x="635000" y="54356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1B1B18"/>
                </a:solidFill>
                <a:latin typeface="MiSans"/>
                <a:ea typeface="MiSans"/>
              </a:rPr>
              <a:t>参考来源</a:t>
            </a:r>
            <a:endParaRPr lang="en-US" sz="1100" noProof="1"/>
          </a:p>
        </p:txBody>
      </p:sp>
      <p:sp>
        <p:nvSpPr>
          <p:cNvPr id="14" name="src-body"/>
          <p:cNvSpPr txBox="1"/>
          <p:nvPr/>
        </p:nvSpPr>
        <p:spPr>
          <a:xfrm>
            <a:off x="1778000" y="5410200"/>
            <a:ext cx="9779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文章 1 · </a:t>
            </a:r>
            <a:r>
              <a:rPr lang="en-US" sz="11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IMA知识库：从0到1的架构设计与实践</a:t>
            </a: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（腾讯云开发者社区）</a:t>
            </a:r>
            <a:endParaRPr lang="en-US" sz="1100" noProof="1"/>
          </a:p>
          <a:p>
            <a:pPr>
              <a:lnSpc>
                <a:spcPct val="170000"/>
              </a:lnSpc>
            </a:pP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文章 2 · </a:t>
            </a:r>
            <a:r>
              <a:rPr lang="en-US" sz="11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ima基于腾讯云ES的千亿级AI知识库架构实践</a:t>
            </a: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（腾讯云 × Elastic AI 搜索技术大会）</a:t>
            </a:r>
            <a:endParaRPr lang="en-US" sz="1100" noProof="1"/>
          </a:p>
        </p:txBody>
      </p:sp>
      <p:sp>
        <p:nvSpPr>
          <p:cNvPr id="15" name="footer-rule"/>
          <p:cNvSpPr/>
          <p:nvPr/>
        </p:nvSpPr>
        <p:spPr>
          <a:xfrm>
            <a:off x="635000" y="64516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635000" y="65532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open-ima · 架构技术分享</a:t>
            </a:r>
            <a:endParaRPr lang="en-US" sz="90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0287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02 / 11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35000" y="431800"/>
            <a:ext cx="1092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75756C"/>
                </a:solidFill>
                <a:latin typeface="MiSans"/>
                <a:ea typeface="MiSans"/>
              </a:rPr>
              <a:t>02 · 他们怎么做 —— 文章一《IMA知识库：从0到1的架构设计与实践》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35000" y="660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1B1B18"/>
                </a:solidFill>
                <a:latin typeface="MiSans"/>
                <a:ea typeface="MiSans"/>
              </a:rPr>
              <a:t>知识入库：统一数据格式、分层解耦、异步削峰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35000" y="12700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5" name="n1-box"/>
          <p:cNvSpPr/>
          <p:nvPr/>
        </p:nvSpPr>
        <p:spPr>
          <a:xfrm>
            <a:off x="635000" y="1498600"/>
            <a:ext cx="1651000" cy="838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4E4DC"/>
            </a:solidFill>
          </a:ln>
        </p:spPr>
      </p:sp>
      <p:sp>
        <p:nvSpPr>
          <p:cNvPr id="6" name="n1-text"/>
          <p:cNvSpPr txBox="1"/>
          <p:nvPr/>
        </p:nvSpPr>
        <p:spPr>
          <a:xfrm>
            <a:off x="736600" y="1600200"/>
            <a:ext cx="14478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数据源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5756C"/>
                </a:solidFill>
                <a:latin typeface="MiSans"/>
                <a:ea typeface="MiSans"/>
              </a:rPr>
              <a:t>20+ 种文件格式</a:t>
            </a:r>
            <a:endParaRPr lang="en-US" sz="1600" noProof="1"/>
          </a:p>
        </p:txBody>
      </p:sp>
      <p:sp>
        <p:nvSpPr>
          <p:cNvPr id="7" name="a1"/>
          <p:cNvSpPr/>
          <p:nvPr>
            <p:extLst>
              <p:ext uri="{F5677B7D-0D2A-4D9B-9A5C-6D8D7D0E5A5D}">
                <pptd:line encoding="base64url">eyJ2aWV3Qm94IjpbMSwxXSwicG9pbnRzIjoiMCwwLjUgMSwwLjUiLCJjdXJ2ZSI6InNoYXJwIn0</pptd:line>
              </p:ext>
            </p:extLst>
          </p:nvPr>
        </p:nvSpPr>
        <p:spPr>
          <a:xfrm>
            <a:off x="2336800" y="18923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8" name="n2-box"/>
          <p:cNvSpPr/>
          <p:nvPr/>
        </p:nvSpPr>
        <p:spPr>
          <a:xfrm>
            <a:off x="2667000" y="1498600"/>
            <a:ext cx="222250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9" name="n2-text"/>
          <p:cNvSpPr txBox="1"/>
          <p:nvPr/>
        </p:nvSpPr>
        <p:spPr>
          <a:xfrm>
            <a:off x="2768600" y="1600200"/>
            <a:ext cx="20193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统一接入层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5756C"/>
                </a:solidFill>
                <a:latin typeface="MiSans"/>
                <a:ea typeface="MiSans"/>
              </a:rPr>
              <a:t>元信息持久化为 Media 结构</a:t>
            </a:r>
            <a:endParaRPr lang="en-US" sz="1600" noProof="1"/>
          </a:p>
        </p:txBody>
      </p:sp>
      <p:sp>
        <p:nvSpPr>
          <p:cNvPr id="10" name="a2"/>
          <p:cNvSpPr/>
          <p:nvPr>
            <p:extLst>
              <p:ext uri="{F5677B7D-0D2A-4D9B-9A5C-6D8D7D0E5A5D}">
                <pptd:line encoding="base64url">eyJ2aWV3Qm94IjpbMSwxXSwicG9pbnRzIjoiMCwwLjUgMSwwLjUiLCJjdXJ2ZSI6InNoYXJwIn0</pptd:line>
              </p:ext>
            </p:extLst>
          </p:nvPr>
        </p:nvSpPr>
        <p:spPr>
          <a:xfrm>
            <a:off x="4940300" y="18923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11" name="n3-box"/>
          <p:cNvSpPr/>
          <p:nvPr/>
        </p:nvSpPr>
        <p:spPr>
          <a:xfrm>
            <a:off x="5270500" y="1498600"/>
            <a:ext cx="139700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12" name="n3-text"/>
          <p:cNvSpPr txBox="1"/>
          <p:nvPr/>
        </p:nvSpPr>
        <p:spPr>
          <a:xfrm>
            <a:off x="5372100" y="1600200"/>
            <a:ext cx="11938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消息队列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5756C"/>
                </a:solidFill>
                <a:latin typeface="MiSans"/>
                <a:ea typeface="MiSans"/>
              </a:rPr>
              <a:t>削峰填谷</a:t>
            </a:r>
            <a:endParaRPr lang="en-US" sz="1600" noProof="1"/>
          </a:p>
        </p:txBody>
      </p:sp>
      <p:sp>
        <p:nvSpPr>
          <p:cNvPr id="13" name="a3"/>
          <p:cNvSpPr/>
          <p:nvPr>
            <p:extLst>
              <p:ext uri="{F5677B7D-0D2A-4D9B-9A5C-6D8D7D0E5A5D}">
                <pptd:line encoding="base64url">eyJ2aWV3Qm94IjpbMSwxXSwicG9pbnRzIjoiMCwwLjUgMSwwLjUiLCJjdXJ2ZSI6InNoYXJwIn0</pptd:line>
              </p:ext>
            </p:extLst>
          </p:nvPr>
        </p:nvSpPr>
        <p:spPr>
          <a:xfrm>
            <a:off x="6718300" y="18923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14" name="n4-box"/>
          <p:cNvSpPr/>
          <p:nvPr/>
        </p:nvSpPr>
        <p:spPr>
          <a:xfrm>
            <a:off x="7048500" y="1498600"/>
            <a:ext cx="215900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15" name="n4-text"/>
          <p:cNvSpPr txBox="1"/>
          <p:nvPr/>
        </p:nvSpPr>
        <p:spPr>
          <a:xfrm>
            <a:off x="7150100" y="1600200"/>
            <a:ext cx="19558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独立解析层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5756C"/>
                </a:solidFill>
                <a:latin typeface="MiSans"/>
                <a:ea typeface="MiSans"/>
              </a:rPr>
              <a:t>按类型解析为标准 Chunk</a:t>
            </a:r>
            <a:endParaRPr lang="en-US" sz="1600" noProof="1"/>
          </a:p>
        </p:txBody>
      </p:sp>
      <p:sp>
        <p:nvSpPr>
          <p:cNvPr id="16" name="a4"/>
          <p:cNvSpPr/>
          <p:nvPr>
            <p:extLst>
              <p:ext uri="{F5677B7D-0D2A-4D9B-9A5C-6D8D7D0E5A5D}">
                <pptd:line encoding="base64url">eyJ2aWV3Qm94IjpbMSwxXSwicG9pbnRzIjoiMCwwLjUgMSwwLjUiLCJjdXJ2ZSI6InNoYXJwIn0</pptd:line>
              </p:ext>
            </p:extLst>
          </p:nvPr>
        </p:nvSpPr>
        <p:spPr>
          <a:xfrm>
            <a:off x="9258300" y="1892300"/>
            <a:ext cx="7874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17" name="n5-box"/>
          <p:cNvSpPr/>
          <p:nvPr/>
        </p:nvSpPr>
        <p:spPr>
          <a:xfrm>
            <a:off x="10096500" y="1498600"/>
            <a:ext cx="1460500" cy="838200"/>
          </a:xfrm>
          <a:prstGeom prst="rect">
            <a:avLst/>
          </a:prstGeom>
          <a:solidFill>
            <a:srgbClr val="F0F4F8"/>
          </a:solidFill>
          <a:ln w="12700">
            <a:solidFill>
              <a:srgbClr val="E4E4DC"/>
            </a:solidFill>
          </a:ln>
        </p:spPr>
      </p:sp>
      <p:sp>
        <p:nvSpPr>
          <p:cNvPr id="18" name="n5-text"/>
          <p:cNvSpPr txBox="1"/>
          <p:nvPr/>
        </p:nvSpPr>
        <p:spPr>
          <a:xfrm>
            <a:off x="10198100" y="1600200"/>
            <a:ext cx="12573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底层 RAG 服务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5756C"/>
                </a:solidFill>
                <a:latin typeface="MiSans"/>
                <a:ea typeface="MiSans"/>
              </a:rPr>
              <a:t>索引 · 检索 · AI 应用</a:t>
            </a:r>
            <a:endParaRPr lang="en-US" sz="1600" noProof="1"/>
          </a:p>
        </p:txBody>
      </p:sp>
      <p:sp>
        <p:nvSpPr>
          <p:cNvPr id="19" name="c1-label"/>
          <p:cNvSpPr txBox="1"/>
          <p:nvPr/>
        </p:nvSpPr>
        <p:spPr>
          <a:xfrm>
            <a:off x="635000" y="27686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100" kern="0">
                <a:solidFill>
                  <a:srgbClr val="3E5C76"/>
                </a:solidFill>
                <a:latin typeface="MiSans"/>
                <a:ea typeface="MiSans"/>
              </a:rPr>
              <a:t>挑战一 · 数据源多样与异构</a:t>
            </a:r>
            <a:endParaRPr lang="en-US" sz="1050" noProof="1"/>
          </a:p>
        </p:txBody>
      </p:sp>
      <p:sp>
        <p:nvSpPr>
          <p:cNvPr id="20" name="c1-title"/>
          <p:cNvSpPr txBox="1"/>
          <p:nvPr/>
        </p:nvSpPr>
        <p:spPr>
          <a:xfrm>
            <a:off x="635000" y="3022600"/>
            <a:ext cx="342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B1B18"/>
                </a:solidFill>
                <a:latin typeface="MiSans"/>
                <a:ea typeface="MiSans"/>
              </a:rPr>
              <a:t>解法：统一内部数据格式</a:t>
            </a:r>
            <a:endParaRPr lang="en-US" sz="1350" noProof="1"/>
          </a:p>
        </p:txBody>
      </p:sp>
      <p:sp>
        <p:nvSpPr>
          <p:cNvPr id="21" name="c1-body"/>
          <p:cNvSpPr txBox="1"/>
          <p:nvPr/>
        </p:nvSpPr>
        <p:spPr>
          <a:xfrm>
            <a:off x="635000" y="3327400"/>
            <a:ext cx="3429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Media 面向用户展示与管理，Chunk 面向 RAG 解析与检索；任何外部格式进入系统都转换为统一结构，外部复杂性与内部逻辑彻底解耦。</a:t>
            </a:r>
            <a:endParaRPr lang="en-US" sz="1150" noProof="1"/>
          </a:p>
        </p:txBody>
      </p:sp>
      <p:sp>
        <p:nvSpPr>
          <p:cNvPr id="22" name="col-div1"/>
          <p:cNvSpPr/>
          <p:nvPr/>
        </p:nvSpPr>
        <p:spPr>
          <a:xfrm>
            <a:off x="4318000" y="2819400"/>
            <a:ext cx="12700" cy="18796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23" name="c2-label"/>
          <p:cNvSpPr txBox="1"/>
          <p:nvPr/>
        </p:nvSpPr>
        <p:spPr>
          <a:xfrm>
            <a:off x="4572000" y="2768600"/>
            <a:ext cx="342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100" kern="0">
                <a:solidFill>
                  <a:srgbClr val="3E5C76"/>
                </a:solidFill>
                <a:latin typeface="MiSans"/>
                <a:ea typeface="MiSans"/>
              </a:rPr>
              <a:t>挑战二 · 处理流程不标准</a:t>
            </a:r>
            <a:endParaRPr lang="en-US" sz="1050" noProof="1"/>
          </a:p>
        </p:txBody>
      </p:sp>
      <p:sp>
        <p:nvSpPr>
          <p:cNvPr id="24" name="c2-title"/>
          <p:cNvSpPr txBox="1"/>
          <p:nvPr/>
        </p:nvSpPr>
        <p:spPr>
          <a:xfrm>
            <a:off x="4572000" y="3022600"/>
            <a:ext cx="342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B1B18"/>
                </a:solidFill>
                <a:latin typeface="MiSans"/>
                <a:ea typeface="MiSans"/>
              </a:rPr>
              <a:t>解法：识别并隔离变化</a:t>
            </a:r>
            <a:endParaRPr lang="en-US" sz="1350" noProof="1"/>
          </a:p>
        </p:txBody>
      </p:sp>
      <p:sp>
        <p:nvSpPr>
          <p:cNvPr id="25" name="c2-body"/>
          <p:cNvSpPr txBox="1"/>
          <p:nvPr/>
        </p:nvSpPr>
        <p:spPr>
          <a:xfrm>
            <a:off x="4572000" y="3327400"/>
            <a:ext cx="3429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入库流程拆为稳定的统一接入层与灵活的独立解析层：接入协议不变，解析逻辑独立演进，新增格式不再牵一发动全身。</a:t>
            </a:r>
            <a:endParaRPr lang="en-US" sz="1150" noProof="1"/>
          </a:p>
        </p:txBody>
      </p:sp>
      <p:sp>
        <p:nvSpPr>
          <p:cNvPr id="26" name="col-div2"/>
          <p:cNvSpPr/>
          <p:nvPr/>
        </p:nvSpPr>
        <p:spPr>
          <a:xfrm>
            <a:off x="8255000" y="2819400"/>
            <a:ext cx="12700" cy="18796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27" name="c3-label"/>
          <p:cNvSpPr txBox="1"/>
          <p:nvPr/>
        </p:nvSpPr>
        <p:spPr>
          <a:xfrm>
            <a:off x="8509000" y="2768600"/>
            <a:ext cx="304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 spc="100" kern="0">
                <a:solidFill>
                  <a:srgbClr val="3E5C76"/>
                </a:solidFill>
                <a:latin typeface="MiSans"/>
                <a:ea typeface="MiSans"/>
              </a:rPr>
              <a:t>挑战三 · 入库洪峰冲击解析瓶颈</a:t>
            </a:r>
            <a:endParaRPr lang="en-US" sz="1050" noProof="1"/>
          </a:p>
        </p:txBody>
      </p:sp>
      <p:sp>
        <p:nvSpPr>
          <p:cNvPr id="28" name="c3-title"/>
          <p:cNvSpPr txBox="1"/>
          <p:nvPr/>
        </p:nvSpPr>
        <p:spPr>
          <a:xfrm>
            <a:off x="8509000" y="30226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B1B18"/>
                </a:solidFill>
                <a:latin typeface="MiSans"/>
                <a:ea typeface="MiSans"/>
              </a:rPr>
              <a:t>解法：异步化削峰</a:t>
            </a:r>
            <a:endParaRPr lang="en-US" sz="1350" noProof="1"/>
          </a:p>
        </p:txBody>
      </p:sp>
      <p:sp>
        <p:nvSpPr>
          <p:cNvPr id="29" name="c3-body"/>
          <p:cNvSpPr txBox="1"/>
          <p:nvPr/>
        </p:nvSpPr>
        <p:spPr>
          <a:xfrm>
            <a:off x="8509000" y="3327400"/>
            <a:ext cx="3048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文件解析是 CPU / 内存密集型重任务，能力上限恒定；用消息队列解耦请求与处理，脉冲式批量上传不压垮系统。</a:t>
            </a:r>
            <a:endParaRPr lang="en-US" sz="1150" noProof="1"/>
          </a:p>
        </p:txBody>
      </p:sp>
      <p:sp>
        <p:nvSpPr>
          <p:cNvPr id="30" name="bottom-rule"/>
          <p:cNvSpPr/>
          <p:nvPr/>
        </p:nvSpPr>
        <p:spPr>
          <a:xfrm>
            <a:off x="635000" y="52578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31" name="m1-label"/>
          <p:cNvSpPr txBox="1"/>
          <p:nvPr/>
        </p:nvSpPr>
        <p:spPr>
          <a:xfrm>
            <a:off x="635000" y="54610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1B1B18"/>
                </a:solidFill>
                <a:latin typeface="MiSans"/>
                <a:ea typeface="MiSans"/>
              </a:rPr>
              <a:t>数据一致性 · 允许短暂不一致</a:t>
            </a:r>
            <a:endParaRPr lang="en-US" sz="1150" noProof="1"/>
          </a:p>
        </p:txBody>
      </p:sp>
      <p:sp>
        <p:nvSpPr>
          <p:cNvPr id="32" name="m1-body"/>
          <p:cNvSpPr txBox="1"/>
          <p:nvPr/>
        </p:nvSpPr>
        <p:spPr>
          <a:xfrm>
            <a:off x="635000" y="5715000"/>
            <a:ext cx="533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Media 状态机提供即时判断依据，配合独立异步对账服务兜底，保证 Media 与 Chunk 的最终一致。</a:t>
            </a:r>
            <a:endParaRPr lang="en-US" sz="1150" noProof="1"/>
          </a:p>
        </p:txBody>
      </p:sp>
      <p:sp>
        <p:nvSpPr>
          <p:cNvPr id="33" name="m2-label"/>
          <p:cNvSpPr txBox="1"/>
          <p:nvPr/>
        </p:nvSpPr>
        <p:spPr>
          <a:xfrm>
            <a:off x="6477000" y="54610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 b="1">
                <a:solidFill>
                  <a:srgbClr val="1B1B18"/>
                </a:solidFill>
                <a:latin typeface="MiSans"/>
                <a:ea typeface="MiSans"/>
              </a:rPr>
              <a:t>数据安全 · 权限是生命线</a:t>
            </a:r>
            <a:endParaRPr lang="en-US" sz="1150" noProof="1"/>
          </a:p>
        </p:txBody>
      </p:sp>
      <p:sp>
        <p:nvSpPr>
          <p:cNvPr id="34" name="m2-body"/>
          <p:cNvSpPr txBox="1"/>
          <p:nvPr/>
        </p:nvSpPr>
        <p:spPr>
          <a:xfrm>
            <a:off x="6477000" y="57150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权限深度建模 + 统一权限网关，支撑从个人使用到大规模团队协作的权限演进。</a:t>
            </a:r>
            <a:endParaRPr lang="en-US" sz="1150" noProof="1"/>
          </a:p>
        </p:txBody>
      </p:sp>
      <p:sp>
        <p:nvSpPr>
          <p:cNvPr id="35" name="footer-rule"/>
          <p:cNvSpPr/>
          <p:nvPr/>
        </p:nvSpPr>
        <p:spPr>
          <a:xfrm>
            <a:off x="635000" y="64516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36" name="footer-left"/>
          <p:cNvSpPr txBox="1"/>
          <p:nvPr/>
        </p:nvSpPr>
        <p:spPr>
          <a:xfrm>
            <a:off x="635000" y="65532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open-ima · 架构技术分享</a:t>
            </a:r>
            <a:endParaRPr lang="en-US" sz="900" noProof="1"/>
          </a:p>
        </p:txBody>
      </p:sp>
      <p:sp>
        <p:nvSpPr>
          <p:cNvPr id="37" name="footer-page"/>
          <p:cNvSpPr txBox="1"/>
          <p:nvPr/>
        </p:nvSpPr>
        <p:spPr>
          <a:xfrm>
            <a:off x="10287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03 / 11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35000" y="431800"/>
            <a:ext cx="1092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75756C"/>
                </a:solidFill>
                <a:latin typeface="MiSans"/>
                <a:ea typeface="MiSans"/>
              </a:rPr>
              <a:t>03 · 他们怎么做 —— 文章二《ima 基于腾讯云ES的千亿级AI知识库架构实践》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35000" y="660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1B1B18"/>
                </a:solidFill>
                <a:latin typeface="MiSans"/>
                <a:ea typeface="MiSans"/>
              </a:rPr>
              <a:t>检索底座：一套 ES 引擎，同时承载全文、向量与混合检索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35000" y="12700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5" name="layer1-box"/>
          <p:cNvSpPr/>
          <p:nvPr/>
        </p:nvSpPr>
        <p:spPr>
          <a:xfrm>
            <a:off x="635000" y="1498600"/>
            <a:ext cx="4826000" cy="787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4E4DC"/>
            </a:solidFill>
          </a:ln>
        </p:spPr>
      </p:sp>
      <p:sp>
        <p:nvSpPr>
          <p:cNvPr id="6" name="layer1-text"/>
          <p:cNvSpPr txBox="1"/>
          <p:nvPr/>
        </p:nvSpPr>
        <p:spPr>
          <a:xfrm>
            <a:off x="812800" y="1600200"/>
            <a:ext cx="4470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应用层</a:t>
            </a: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　RAG 智能问答 · 内容搜索（标题/标签/全文）</a:t>
            </a:r>
            <a:endParaRPr lang="en-US" sz="1600" noProof="1"/>
          </a:p>
        </p:txBody>
      </p:sp>
      <p:sp>
        <p:nvSpPr>
          <p:cNvPr id="7" name="layer2-box"/>
          <p:cNvSpPr/>
          <p:nvPr/>
        </p:nvSpPr>
        <p:spPr>
          <a:xfrm>
            <a:off x="635000" y="2438400"/>
            <a:ext cx="48260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8" name="layer2-text"/>
          <p:cNvSpPr txBox="1"/>
          <p:nvPr/>
        </p:nvSpPr>
        <p:spPr>
          <a:xfrm>
            <a:off x="812800" y="2540000"/>
            <a:ext cx="4470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入库层</a:t>
            </a: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　文档解析 → 智能分块 → Embedding → 写入</a:t>
            </a:r>
            <a:endParaRPr lang="en-US" sz="1600" noProof="1"/>
          </a:p>
        </p:txBody>
      </p:sp>
      <p:sp>
        <p:nvSpPr>
          <p:cNvPr id="9" name="layer3-box"/>
          <p:cNvSpPr/>
          <p:nvPr/>
        </p:nvSpPr>
        <p:spPr>
          <a:xfrm>
            <a:off x="635000" y="3378200"/>
            <a:ext cx="48260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10" name="layer3-text"/>
          <p:cNvSpPr txBox="1"/>
          <p:nvPr/>
        </p:nvSpPr>
        <p:spPr>
          <a:xfrm>
            <a:off x="812800" y="3479800"/>
            <a:ext cx="4470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检索层</a:t>
            </a: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　BM25 + Vector KNN 双路召回 → RRF 融合</a:t>
            </a:r>
            <a:endParaRPr lang="en-US" sz="1600" noProof="1"/>
          </a:p>
        </p:txBody>
      </p:sp>
      <p:sp>
        <p:nvSpPr>
          <p:cNvPr id="11" name="layer4-box"/>
          <p:cNvSpPr/>
          <p:nvPr/>
        </p:nvSpPr>
        <p:spPr>
          <a:xfrm>
            <a:off x="635000" y="4318000"/>
            <a:ext cx="48260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12" name="layer4-text"/>
          <p:cNvSpPr txBox="1"/>
          <p:nvPr/>
        </p:nvSpPr>
        <p:spPr>
          <a:xfrm>
            <a:off x="812800" y="4419600"/>
            <a:ext cx="4470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存储层</a:t>
            </a: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　Elasticsearch 统一支撑倒排 + 向量（HNSW / BBQ）</a:t>
            </a:r>
            <a:endParaRPr lang="en-US" sz="1600" noProof="1"/>
          </a:p>
        </p:txBody>
      </p:sp>
      <p:sp>
        <p:nvSpPr>
          <p:cNvPr id="13" name="chain-title"/>
          <p:cNvSpPr txBox="1"/>
          <p:nvPr/>
        </p:nvSpPr>
        <p:spPr>
          <a:xfrm>
            <a:off x="6350000" y="1498600"/>
            <a:ext cx="5207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RAG 检索链路</a:t>
            </a:r>
            <a:endParaRPr lang="en-US" sz="1250" noProof="1"/>
          </a:p>
        </p:txBody>
      </p:sp>
      <p:sp>
        <p:nvSpPr>
          <p:cNvPr id="14" name="s1-num"/>
          <p:cNvSpPr txBox="1"/>
          <p:nvPr/>
        </p:nvSpPr>
        <p:spPr>
          <a:xfrm>
            <a:off x="6350000" y="18542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3E5C76"/>
                </a:solidFill>
                <a:latin typeface="MiSans"/>
                <a:ea typeface="MiSans"/>
              </a:rPr>
              <a:t>01</a:t>
            </a:r>
            <a:endParaRPr lang="en-US" sz="1200" noProof="1"/>
          </a:p>
        </p:txBody>
      </p:sp>
      <p:sp>
        <p:nvSpPr>
          <p:cNvPr id="15" name="s1-text"/>
          <p:cNvSpPr txBox="1"/>
          <p:nvPr/>
        </p:nvSpPr>
        <p:spPr>
          <a:xfrm>
            <a:off x="6858000" y="18542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B1B18"/>
                </a:solidFill>
                <a:latin typeface="MiSans"/>
                <a:ea typeface="MiSans"/>
              </a:rPr>
              <a:t>Query 进入，Query 改写（多 query 扩展）</a:t>
            </a:r>
            <a:endParaRPr lang="en-US" sz="1200" noProof="1"/>
          </a:p>
        </p:txBody>
      </p:sp>
      <p:sp>
        <p:nvSpPr>
          <p:cNvPr id="16" name="sr1"/>
          <p:cNvSpPr/>
          <p:nvPr/>
        </p:nvSpPr>
        <p:spPr>
          <a:xfrm>
            <a:off x="6350000" y="2235200"/>
            <a:ext cx="5207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17" name="s2-num"/>
          <p:cNvSpPr txBox="1"/>
          <p:nvPr/>
        </p:nvSpPr>
        <p:spPr>
          <a:xfrm>
            <a:off x="6350000" y="23622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3E5C76"/>
                </a:solidFill>
                <a:latin typeface="MiSans"/>
                <a:ea typeface="MiSans"/>
              </a:rPr>
              <a:t>02</a:t>
            </a:r>
            <a:endParaRPr lang="en-US" sz="1200" noProof="1"/>
          </a:p>
        </p:txBody>
      </p:sp>
      <p:sp>
        <p:nvSpPr>
          <p:cNvPr id="18" name="s2-text"/>
          <p:cNvSpPr txBox="1"/>
          <p:nvPr/>
        </p:nvSpPr>
        <p:spPr>
          <a:xfrm>
            <a:off x="6858000" y="23622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B1B18"/>
                </a:solidFill>
                <a:latin typeface="MiSans"/>
                <a:ea typeface="MiSans"/>
              </a:rPr>
              <a:t>两路召回：Text BM25 ∥ Vector KNN（稀疏+稠密互补）</a:t>
            </a:r>
            <a:endParaRPr lang="en-US" sz="1200" noProof="1"/>
          </a:p>
        </p:txBody>
      </p:sp>
      <p:sp>
        <p:nvSpPr>
          <p:cNvPr id="19" name="sr2"/>
          <p:cNvSpPr/>
          <p:nvPr/>
        </p:nvSpPr>
        <p:spPr>
          <a:xfrm>
            <a:off x="6350000" y="2743200"/>
            <a:ext cx="5207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20" name="s3-num"/>
          <p:cNvSpPr txBox="1"/>
          <p:nvPr/>
        </p:nvSpPr>
        <p:spPr>
          <a:xfrm>
            <a:off x="6350000" y="28702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3E5C76"/>
                </a:solidFill>
                <a:latin typeface="MiSans"/>
                <a:ea typeface="MiSans"/>
              </a:rPr>
              <a:t>03</a:t>
            </a:r>
            <a:endParaRPr lang="en-US" sz="1200" noProof="1"/>
          </a:p>
        </p:txBody>
      </p:sp>
      <p:sp>
        <p:nvSpPr>
          <p:cNvPr id="21" name="s3-text"/>
          <p:cNvSpPr txBox="1"/>
          <p:nvPr/>
        </p:nvSpPr>
        <p:spPr>
          <a:xfrm>
            <a:off x="6858000" y="28702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B1B18"/>
                </a:solidFill>
                <a:latin typeface="MiSans"/>
                <a:ea typeface="MiSans"/>
              </a:rPr>
              <a:t>RRF 融合（ES 原生 Retriever，无需自研融合逻辑）</a:t>
            </a:r>
            <a:endParaRPr lang="en-US" sz="1200" noProof="1"/>
          </a:p>
        </p:txBody>
      </p:sp>
      <p:sp>
        <p:nvSpPr>
          <p:cNvPr id="22" name="sr3"/>
          <p:cNvSpPr/>
          <p:nvPr/>
        </p:nvSpPr>
        <p:spPr>
          <a:xfrm>
            <a:off x="6350000" y="3251200"/>
            <a:ext cx="5207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23" name="s4-num"/>
          <p:cNvSpPr txBox="1"/>
          <p:nvPr/>
        </p:nvSpPr>
        <p:spPr>
          <a:xfrm>
            <a:off x="6350000" y="33782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3E5C76"/>
                </a:solidFill>
                <a:latin typeface="MiSans"/>
                <a:ea typeface="MiSans"/>
              </a:rPr>
              <a:t>04</a:t>
            </a:r>
            <a:endParaRPr lang="en-US" sz="1200" noProof="1"/>
          </a:p>
        </p:txBody>
      </p:sp>
      <p:sp>
        <p:nvSpPr>
          <p:cNvPr id="24" name="s4-text"/>
          <p:cNvSpPr txBox="1"/>
          <p:nvPr/>
        </p:nvSpPr>
        <p:spPr>
          <a:xfrm>
            <a:off x="6858000" y="33782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B1B18"/>
                </a:solidFill>
                <a:latin typeface="MiSans"/>
                <a:ea typeface="MiSans"/>
              </a:rPr>
              <a:t>Top-K 截断，KNN with filter 叠加知识库 ID 过滤</a:t>
            </a:r>
            <a:endParaRPr lang="en-US" sz="1200" noProof="1"/>
          </a:p>
        </p:txBody>
      </p:sp>
      <p:sp>
        <p:nvSpPr>
          <p:cNvPr id="25" name="sr4"/>
          <p:cNvSpPr/>
          <p:nvPr/>
        </p:nvSpPr>
        <p:spPr>
          <a:xfrm>
            <a:off x="6350000" y="3759200"/>
            <a:ext cx="5207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26" name="s5-num"/>
          <p:cNvSpPr txBox="1"/>
          <p:nvPr/>
        </p:nvSpPr>
        <p:spPr>
          <a:xfrm>
            <a:off x="6350000" y="38862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3E5C76"/>
                </a:solidFill>
                <a:latin typeface="MiSans"/>
                <a:ea typeface="MiSans"/>
              </a:rPr>
              <a:t>05</a:t>
            </a:r>
            <a:endParaRPr lang="en-US" sz="1200" noProof="1"/>
          </a:p>
        </p:txBody>
      </p:sp>
      <p:sp>
        <p:nvSpPr>
          <p:cNvPr id="27" name="s5-text"/>
          <p:cNvSpPr txBox="1"/>
          <p:nvPr/>
        </p:nvSpPr>
        <p:spPr>
          <a:xfrm>
            <a:off x="6858000" y="3886200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1B1B18"/>
                </a:solidFill>
                <a:latin typeface="MiSans"/>
                <a:ea typeface="MiSans"/>
              </a:rPr>
              <a:t>召回片段送大模型生成答案</a:t>
            </a:r>
            <a:endParaRPr lang="en-US" sz="1200" noProof="1"/>
          </a:p>
        </p:txBody>
      </p:sp>
      <p:sp>
        <p:nvSpPr>
          <p:cNvPr id="28" name="why-title"/>
          <p:cNvSpPr txBox="1"/>
          <p:nvPr/>
        </p:nvSpPr>
        <p:spPr>
          <a:xfrm>
            <a:off x="6350000" y="4419600"/>
            <a:ext cx="5207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>
                <a:solidFill>
                  <a:srgbClr val="75756C"/>
                </a:solidFill>
                <a:latin typeface="MiSans"/>
                <a:ea typeface="MiSans"/>
              </a:rPr>
              <a:t>为什么选 ES：一套引擎免维护两套系统 · 原生向量与混合检索 · 成熟中文生态</a:t>
            </a:r>
            <a:endParaRPr lang="en-US" sz="1100" noProof="1"/>
          </a:p>
        </p:txBody>
      </p:sp>
      <p:sp>
        <p:nvSpPr>
          <p:cNvPr id="29" name="bottom-rule"/>
          <p:cNvSpPr/>
          <p:nvPr/>
        </p:nvSpPr>
        <p:spPr>
          <a:xfrm>
            <a:off x="635000" y="53340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30" name="ch1-label"/>
          <p:cNvSpPr txBox="1"/>
          <p:nvPr/>
        </p:nvSpPr>
        <p:spPr>
          <a:xfrm>
            <a:off x="635000" y="55118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3E5C76"/>
                </a:solidFill>
                <a:latin typeface="MiSans"/>
                <a:ea typeface="MiSans"/>
              </a:rPr>
              <a:t>挑战一 · 数据无限膨胀</a:t>
            </a:r>
            <a:endParaRPr lang="en-US" sz="1200" noProof="1"/>
          </a:p>
        </p:txBody>
      </p:sp>
      <p:sp>
        <p:nvSpPr>
          <p:cNvPr id="31" name="ch1-body"/>
          <p:cNvSpPr txBox="1"/>
          <p:nvPr/>
        </p:nvSpPr>
        <p:spPr>
          <a:xfrm>
            <a:off x="635000" y="5791200"/>
            <a:ext cx="342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横向：多集群 + 多索引按 tenant_id 路由；纵向：alias + rollover 滚动索引。</a:t>
            </a:r>
            <a:endParaRPr lang="en-US" sz="1100" noProof="1"/>
          </a:p>
        </p:txBody>
      </p:sp>
      <p:sp>
        <p:nvSpPr>
          <p:cNvPr id="32" name="ch2-label"/>
          <p:cNvSpPr txBox="1"/>
          <p:nvPr/>
        </p:nvSpPr>
        <p:spPr>
          <a:xfrm>
            <a:off x="4572000" y="55118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3E5C76"/>
                </a:solidFill>
                <a:latin typeface="MiSans"/>
                <a:ea typeface="MiSans"/>
              </a:rPr>
              <a:t>挑战二 · 向量内存与存储压力</a:t>
            </a:r>
            <a:endParaRPr lang="en-US" sz="1200" noProof="1"/>
          </a:p>
        </p:txBody>
      </p:sp>
      <p:sp>
        <p:nvSpPr>
          <p:cNvPr id="33" name="ch2-body"/>
          <p:cNvSpPr txBox="1"/>
          <p:nvPr/>
        </p:nvSpPr>
        <p:spPr>
          <a:xfrm>
            <a:off x="4572000" y="5791200"/>
            <a:ext cx="3429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bbq_disk 量化落盘；_source 排除向量字段，省约一半冗余存储与 IO。</a:t>
            </a:r>
            <a:endParaRPr lang="en-US" sz="1100" noProof="1"/>
          </a:p>
        </p:txBody>
      </p:sp>
      <p:sp>
        <p:nvSpPr>
          <p:cNvPr id="34" name="ch3-label"/>
          <p:cNvSpPr txBox="1"/>
          <p:nvPr/>
        </p:nvSpPr>
        <p:spPr>
          <a:xfrm>
            <a:off x="8509000" y="55118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3E5C76"/>
                </a:solidFill>
                <a:latin typeface="MiSans"/>
                <a:ea typeface="MiSans"/>
              </a:rPr>
              <a:t>挑战三 · 查询扇出与分片热点</a:t>
            </a:r>
            <a:endParaRPr lang="en-US" sz="1200" noProof="1"/>
          </a:p>
        </p:txBody>
      </p:sp>
      <p:sp>
        <p:nvSpPr>
          <p:cNvPr id="35" name="ch3-body"/>
          <p:cNvSpPr txBox="1"/>
          <p:nvPr/>
        </p:nvSpPr>
        <p:spPr>
          <a:xfrm>
            <a:off x="8509000" y="5791200"/>
            <a:ext cx="304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_routing 按库路由 + slice 租户级隔离：内存 −71%，最佳 QPS +58%。</a:t>
            </a:r>
            <a:endParaRPr lang="en-US" sz="1100" noProof="1"/>
          </a:p>
        </p:txBody>
      </p:sp>
      <p:sp>
        <p:nvSpPr>
          <p:cNvPr id="36" name="footer-rule"/>
          <p:cNvSpPr/>
          <p:nvPr/>
        </p:nvSpPr>
        <p:spPr>
          <a:xfrm>
            <a:off x="635000" y="64516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37" name="footer-left"/>
          <p:cNvSpPr txBox="1"/>
          <p:nvPr/>
        </p:nvSpPr>
        <p:spPr>
          <a:xfrm>
            <a:off x="635000" y="65532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open-ima · 架构技术分享</a:t>
            </a:r>
            <a:endParaRPr lang="en-US" sz="900" noProof="1"/>
          </a:p>
        </p:txBody>
      </p:sp>
      <p:sp>
        <p:nvSpPr>
          <p:cNvPr id="38" name="footer-page"/>
          <p:cNvSpPr txBox="1"/>
          <p:nvPr/>
        </p:nvSpPr>
        <p:spPr>
          <a:xfrm>
            <a:off x="10287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04 / 11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35000" y="431800"/>
            <a:ext cx="965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75756C"/>
                </a:solidFill>
                <a:latin typeface="MiSans"/>
                <a:ea typeface="MiSans"/>
              </a:rPr>
              <a:t>04 · 我们怎么做 —— open-ima 总体架构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35000" y="660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1B1B18"/>
                </a:solidFill>
                <a:latin typeface="MiSans"/>
                <a:ea typeface="MiSans"/>
              </a:rPr>
              <a:t>四个进程，单机闭环：数据从入库到问答不出本机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35000" y="12700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5" name="browser-box"/>
          <p:cNvSpPr/>
          <p:nvPr/>
        </p:nvSpPr>
        <p:spPr>
          <a:xfrm>
            <a:off x="635000" y="1651000"/>
            <a:ext cx="1651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6" name="browser-text"/>
          <p:cNvSpPr txBox="1"/>
          <p:nvPr/>
        </p:nvSpPr>
        <p:spPr>
          <a:xfrm>
            <a:off x="736600" y="1752600"/>
            <a:ext cx="1447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B1B18"/>
                </a:solidFill>
                <a:latin typeface="MiSans"/>
                <a:ea typeface="MiSans"/>
              </a:rPr>
              <a:t>浏览器 SPA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5756C"/>
                </a:solidFill>
                <a:latin typeface="MiSans"/>
                <a:ea typeface="MiSans"/>
              </a:rPr>
              <a:t>React 由 Go embed 托管</a:t>
            </a:r>
            <a:endParaRPr lang="en-US" sz="1600" noProof="1"/>
          </a:p>
        </p:txBody>
      </p:sp>
      <p:sp>
        <p:nvSpPr>
          <p:cNvPr id="7" name="a-browser"/>
          <p:cNvSpPr/>
          <p:nvPr>
            <p:extLst>
              <p:ext uri="{F5677B7D-0D2A-4D9B-9A5C-6D8D7D0E5A5D}">
                <pptd:line encoding="base64url">eyJ2aWV3Qm94IjpbMSwxXSwicG9pbnRzIjoiMCwwLjUgMSwwLjUiLCJjdXJ2ZSI6InNoYXJwIn0</pptd:line>
              </p:ext>
            </p:extLst>
          </p:nvPr>
        </p:nvSpPr>
        <p:spPr>
          <a:xfrm>
            <a:off x="2336800" y="1968500"/>
            <a:ext cx="10414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8" name="app-box"/>
          <p:cNvSpPr/>
          <p:nvPr/>
        </p:nvSpPr>
        <p:spPr>
          <a:xfrm>
            <a:off x="3429000" y="1473200"/>
            <a:ext cx="4826000" cy="1905000"/>
          </a:xfrm>
          <a:prstGeom prst="rect">
            <a:avLst/>
          </a:prstGeom>
          <a:solidFill>
            <a:srgbClr val="FDF6EE"/>
          </a:solidFill>
          <a:ln w="12700">
            <a:solidFill>
              <a:srgbClr val="E4E4DC"/>
            </a:solidFill>
          </a:ln>
        </p:spPr>
      </p:sp>
      <p:sp>
        <p:nvSpPr>
          <p:cNvPr id="9" name="app-title"/>
          <p:cNvSpPr txBox="1"/>
          <p:nvPr/>
        </p:nvSpPr>
        <p:spPr>
          <a:xfrm>
            <a:off x="3632200" y="1625600"/>
            <a:ext cx="4419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B45309"/>
                </a:solidFill>
                <a:latin typeface="MiSans"/>
                <a:ea typeface="MiSans"/>
              </a:rPr>
              <a:t>app · Go 1.26 单二进制</a:t>
            </a:r>
            <a:endParaRPr lang="en-US" sz="1350" noProof="1"/>
          </a:p>
        </p:txBody>
      </p:sp>
      <p:sp>
        <p:nvSpPr>
          <p:cNvPr id="10" name="app-body"/>
          <p:cNvSpPr txBox="1"/>
          <p:nvPr/>
        </p:nvSpPr>
        <p:spPr>
          <a:xfrm>
            <a:off x="3632200" y="1930400"/>
            <a:ext cx="4419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100" noProof="1">
                <a:solidFill>
                  <a:srgbClr val="1B1B18"/>
                </a:solidFill>
                <a:latin typeface="MiSans"/>
                <a:ea typeface="MiSans"/>
              </a:rPr>
              <a:t>REST API + SSE · 用例编排 · 异步 worker · 对账 ticker</a:t>
            </a:r>
            <a:endParaRPr lang="en-US" sz="1100" noProof="1"/>
          </a:p>
          <a:p>
            <a:pPr>
              <a:lnSpc>
                <a:spcPct val="170000"/>
              </a:lnSpc>
            </a:pPr>
            <a:r>
              <a:rPr lang="en-US" sz="1100" noProof="1">
                <a:solidFill>
                  <a:srgbClr val="1B1B18"/>
                </a:solidFill>
                <a:latin typeface="MiSans"/>
                <a:ea typeface="MiSans"/>
              </a:rPr>
              <a:t>→ parser：POST /parse 内部 URL，parser 凭 token 拉文件、不触网</a:t>
            </a:r>
            <a:endParaRPr lang="en-US" sz="1100" noProof="1"/>
          </a:p>
        </p:txBody>
      </p:sp>
      <p:sp>
        <p:nvSpPr>
          <p:cNvPr id="11" name="app-ddd"/>
          <p:cNvSpPr txBox="1"/>
          <p:nvPr/>
        </p:nvSpPr>
        <p:spPr>
          <a:xfrm>
            <a:off x="3632200" y="2870200"/>
            <a:ext cx="441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75756C"/>
                </a:solidFill>
                <a:latin typeface="MiSans"/>
                <a:ea typeface="MiSans"/>
              </a:rPr>
              <a:t>DDD 分层：interfaces → application/port → domain ← infrastructure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75756C"/>
                </a:solidFill>
                <a:latin typeface="MiSans"/>
                <a:ea typeface="MiSans"/>
              </a:rPr>
              <a:t>依赖方向由 architecture_test.go 固化回归守护</a:t>
            </a:r>
            <a:endParaRPr lang="en-US" sz="1050" noProof="1"/>
          </a:p>
        </p:txBody>
      </p:sp>
      <p:sp>
        <p:nvSpPr>
          <p:cNvPr id="12" name="a-app-parser"/>
          <p:cNvSpPr/>
          <p:nvPr>
            <p:extLst>
              <p:ext uri="{F5677B7D-0D2A-4D9B-9A5C-6D8D7D0E5A5D}">
                <pptd:line encoding="base64url">eyJ2aWV3Qm94IjpbMSwxXSwicG9pbnRzIjoiMCwwLjUgMSwwLjUiLCJjdXJ2ZSI6InNoYXJwIn0</pptd:line>
              </p:ext>
            </p:extLst>
          </p:nvPr>
        </p:nvSpPr>
        <p:spPr>
          <a:xfrm>
            <a:off x="8331200" y="1968500"/>
            <a:ext cx="9906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13" name="parser-box"/>
          <p:cNvSpPr/>
          <p:nvPr/>
        </p:nvSpPr>
        <p:spPr>
          <a:xfrm>
            <a:off x="9398000" y="1651000"/>
            <a:ext cx="2159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14" name="parser-text"/>
          <p:cNvSpPr txBox="1"/>
          <p:nvPr/>
        </p:nvSpPr>
        <p:spPr>
          <a:xfrm>
            <a:off x="9499600" y="1752600"/>
            <a:ext cx="1955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B1B18"/>
                </a:solidFill>
                <a:latin typeface="MiSans"/>
                <a:ea typeface="MiSans"/>
              </a:rPr>
              <a:t>parser · Python FastAPI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5756C"/>
                </a:solidFill>
                <a:latin typeface="MiSans"/>
                <a:ea typeface="MiSans"/>
              </a:rPr>
              <a:t>注册表式解析 · 不触网</a:t>
            </a:r>
            <a:endParaRPr lang="en-US" sz="1600" noProof="1"/>
          </a:p>
        </p:txBody>
      </p:sp>
      <p:sp>
        <p:nvSpPr>
          <p:cNvPr id="15" name="data-box"/>
          <p:cNvSpPr/>
          <p:nvPr/>
        </p:nvSpPr>
        <p:spPr>
          <a:xfrm>
            <a:off x="635000" y="3810000"/>
            <a:ext cx="1905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16" name="data-text"/>
          <p:cNvSpPr txBox="1"/>
          <p:nvPr/>
        </p:nvSpPr>
        <p:spPr>
          <a:xfrm>
            <a:off x="736600" y="3911600"/>
            <a:ext cx="1701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B1B18"/>
                </a:solidFill>
                <a:latin typeface="MiSans"/>
                <a:ea typeface="MiSans"/>
              </a:rPr>
              <a:t>SQLite + ./data 卷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5756C"/>
                </a:solidFill>
                <a:latin typeface="MiSans"/>
                <a:ea typeface="MiSans"/>
              </a:rPr>
              <a:t>元数据 · 任务队列 · 文件</a:t>
            </a:r>
            <a:endParaRPr lang="en-US" sz="1600" noProof="1"/>
          </a:p>
        </p:txBody>
      </p:sp>
      <p:sp>
        <p:nvSpPr>
          <p:cNvPr id="17" name="a-app-data-h"/>
          <p:cNvSpPr/>
          <p:nvPr>
            <p:extLst>
              <p:ext uri="{F5677B7D-0D2A-4D9B-9A5C-6D8D7D0E5A5D}">
                <pptd:line encoding="base64url">eyJ2aWV3Qm94IjpbMSwxXSwicG9pbnRzIjoiMSwwLjUgMCwwLjUiLCJjdXJ2ZSI6InNoYXJwIn0</pptd:line>
              </p:ext>
            </p:extLst>
          </p:nvPr>
        </p:nvSpPr>
        <p:spPr>
          <a:xfrm>
            <a:off x="2590800" y="2768600"/>
            <a:ext cx="7874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1"/>
                </a:moveTo>
                <a:lnTo>
                  <a:pt x="0" y="1"/>
                </a:lnTo>
              </a:path>
            </a:pathLst>
          </a:custGeom>
          <a:noFill/>
          <a:ln w="19050">
            <a:solidFill>
              <a:srgbClr val="75756C"/>
            </a:solidFill>
          </a:ln>
        </p:spPr>
      </p:sp>
      <p:sp>
        <p:nvSpPr>
          <p:cNvPr id="18" name="a-app-data-v"/>
          <p:cNvSpPr/>
          <p:nvPr>
            <p:extLst>
              <p:ext uri="{F5677B7D-0D2A-4D9B-9A5C-6D8D7D0E5A5D}">
                <pptd:line encoding="base64url">eyJ2aWV3Qm94IjpbMSwxXSwicG9pbnRzIjoiMC41LDAgMC41LDEiLCJjdXJ2ZSI6InNoYXJwIn0</pptd:line>
              </p:ext>
            </p:extLst>
          </p:nvPr>
        </p:nvSpPr>
        <p:spPr>
          <a:xfrm>
            <a:off x="2540000" y="284480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19" name="a-app-data-label"/>
          <p:cNvSpPr txBox="1"/>
          <p:nvPr/>
        </p:nvSpPr>
        <p:spPr>
          <a:xfrm>
            <a:off x="1981200" y="25400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75756C"/>
                </a:solidFill>
                <a:latin typeface="MiSans"/>
                <a:ea typeface="MiSans"/>
              </a:rPr>
              <a:t>元数据 / 任务队列</a:t>
            </a:r>
            <a:endParaRPr lang="en-US" sz="950" noProof="1"/>
          </a:p>
        </p:txBody>
      </p:sp>
      <p:sp>
        <p:nvSpPr>
          <p:cNvPr id="20" name="meili-box"/>
          <p:cNvSpPr/>
          <p:nvPr/>
        </p:nvSpPr>
        <p:spPr>
          <a:xfrm>
            <a:off x="3429000" y="3810000"/>
            <a:ext cx="2540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21" name="meili-text"/>
          <p:cNvSpPr txBox="1"/>
          <p:nvPr/>
        </p:nvSpPr>
        <p:spPr>
          <a:xfrm>
            <a:off x="3530600" y="3911600"/>
            <a:ext cx="2336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B1B18"/>
                </a:solidFill>
                <a:latin typeface="MiSans"/>
                <a:ea typeface="MiSans"/>
              </a:rPr>
              <a:t>Meilisearch v1.10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5756C"/>
                </a:solidFill>
                <a:latin typeface="MiSans"/>
                <a:ea typeface="MiSans"/>
              </a:rPr>
              <a:t>BM25 + 向量 KNN + RRF 混合检索</a:t>
            </a:r>
            <a:endParaRPr lang="en-US" sz="1600" noProof="1"/>
          </a:p>
        </p:txBody>
      </p:sp>
      <p:sp>
        <p:nvSpPr>
          <p:cNvPr id="22" name="a-app-meili"/>
          <p:cNvSpPr/>
          <p:nvPr>
            <p:extLst>
              <p:ext uri="{F5677B7D-0D2A-4D9B-9A5C-6D8D7D0E5A5D}">
                <pptd:line encoding="base64url">eyJ2aWV3Qm94IjpbMSwxXSwicG9pbnRzIjoiMC41LDAgMC41LDEiLCJjdXJ2ZSI6InNoYXJwIn0</pptd:line>
              </p:ext>
            </p:extLst>
          </p:nvPr>
        </p:nvSpPr>
        <p:spPr>
          <a:xfrm>
            <a:off x="5943600" y="3403600"/>
            <a:ext cx="50800" cy="3556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headEnd type="arrow"/>
            <a:tailEnd type="arrow"/>
          </a:ln>
        </p:spPr>
      </p:sp>
      <p:sp>
        <p:nvSpPr>
          <p:cNvPr id="23" name="a-app-meili-label"/>
          <p:cNvSpPr txBox="1"/>
          <p:nvPr/>
        </p:nvSpPr>
        <p:spPr>
          <a:xfrm>
            <a:off x="6070600" y="3479800"/>
            <a:ext cx="152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75756C"/>
                </a:solidFill>
                <a:latin typeface="MiSans"/>
                <a:ea typeface="MiSans"/>
              </a:rPr>
              <a:t>检索 / 写入（embedder 内嵌）</a:t>
            </a:r>
            <a:endParaRPr lang="en-US" sz="950" noProof="1"/>
          </a:p>
        </p:txBody>
      </p:sp>
      <p:sp>
        <p:nvSpPr>
          <p:cNvPr id="24" name="a-meili-ollama"/>
          <p:cNvSpPr/>
          <p:nvPr>
            <p:extLst>
              <p:ext uri="{F5677B7D-0D2A-4D9B-9A5C-6D8D7D0E5A5D}">
                <pptd:line encoding="base64url">eyJ2aWV3Qm94IjpbMSwxXSwicG9pbnRzIjoiMCwwLjUgMSwwLjUiLCJjdXJ2ZSI6InNoYXJwIn0</pptd:line>
              </p:ext>
            </p:extLst>
          </p:nvPr>
        </p:nvSpPr>
        <p:spPr>
          <a:xfrm>
            <a:off x="6019800" y="4140200"/>
            <a:ext cx="4064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25" name="ollama-box"/>
          <p:cNvSpPr/>
          <p:nvPr/>
        </p:nvSpPr>
        <p:spPr>
          <a:xfrm>
            <a:off x="6477000" y="381000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26" name="ollama-text"/>
          <p:cNvSpPr txBox="1"/>
          <p:nvPr/>
        </p:nvSpPr>
        <p:spPr>
          <a:xfrm>
            <a:off x="6578600" y="3911600"/>
            <a:ext cx="208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B1B18"/>
                </a:solidFill>
                <a:latin typeface="MiSans"/>
                <a:ea typeface="MiSans"/>
              </a:rPr>
              <a:t>Ollama · bge-m3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5756C"/>
                </a:solidFill>
                <a:latin typeface="MiSans"/>
                <a:ea typeface="MiSans"/>
              </a:rPr>
              <a:t>本地 Embedding · 1024 维</a:t>
            </a:r>
            <a:endParaRPr lang="en-US" sz="1600" noProof="1"/>
          </a:p>
        </p:txBody>
      </p:sp>
      <p:sp>
        <p:nvSpPr>
          <p:cNvPr id="27" name="bottom-rule"/>
          <p:cNvSpPr/>
          <p:nvPr/>
        </p:nvSpPr>
        <p:spPr>
          <a:xfrm>
            <a:off x="635000" y="50800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28" name="sel1-title"/>
          <p:cNvSpPr txBox="1"/>
          <p:nvPr/>
        </p:nvSpPr>
        <p:spPr>
          <a:xfrm>
            <a:off x="635000" y="52832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B45309"/>
                </a:solidFill>
                <a:latin typeface="MiSans"/>
                <a:ea typeface="MiSans"/>
              </a:rPr>
              <a:t>检索引擎 = Meilisearch，非 ES</a:t>
            </a:r>
            <a:endParaRPr lang="en-US" sz="1200" noProof="1"/>
          </a:p>
        </p:txBody>
      </p:sp>
      <p:sp>
        <p:nvSpPr>
          <p:cNvPr id="29" name="sel1-body"/>
          <p:cNvSpPr txBox="1"/>
          <p:nvPr/>
        </p:nvSpPr>
        <p:spPr>
          <a:xfrm>
            <a:off x="635000" y="5562600"/>
            <a:ext cx="3429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ES 单节点镜像 600MB+、内存 1GB 起；Meili 单二进制约 150MB、常驻 100–200MB、秒启动，且官方原生 hybrid search。</a:t>
            </a:r>
            <a:endParaRPr lang="en-US" sz="1100" noProof="1"/>
          </a:p>
        </p:txBody>
      </p:sp>
      <p:sp>
        <p:nvSpPr>
          <p:cNvPr id="30" name="sel2-title"/>
          <p:cNvSpPr txBox="1"/>
          <p:nvPr/>
        </p:nvSpPr>
        <p:spPr>
          <a:xfrm>
            <a:off x="4445000" y="52832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B45309"/>
                </a:solidFill>
                <a:latin typeface="MiSans"/>
                <a:ea typeface="MiSans"/>
              </a:rPr>
              <a:t>解析 = Python sidecar，非 Go 库</a:t>
            </a:r>
            <a:endParaRPr lang="en-US" sz="1200" noProof="1"/>
          </a:p>
        </p:txBody>
      </p:sp>
      <p:sp>
        <p:nvSpPr>
          <p:cNvPr id="31" name="sel2-body"/>
          <p:cNvSpPr txBox="1"/>
          <p:nvPr/>
        </p:nvSpPr>
        <p:spPr>
          <a:xfrm>
            <a:off x="4445000" y="5562600"/>
            <a:ext cx="3429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PDF / DOCX / PPTX 的 Go 解析生态质量不达标；Python 生态成熟，sidecar 不下载模型权重，镜像小、秒启动。</a:t>
            </a:r>
            <a:endParaRPr lang="en-US" sz="1100" noProof="1"/>
          </a:p>
        </p:txBody>
      </p:sp>
      <p:sp>
        <p:nvSpPr>
          <p:cNvPr id="32" name="sel3-title"/>
          <p:cNvSpPr txBox="1"/>
          <p:nvPr/>
        </p:nvSpPr>
        <p:spPr>
          <a:xfrm>
            <a:off x="8255000" y="52832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B45309"/>
                </a:solidFill>
                <a:latin typeface="MiSans"/>
                <a:ea typeface="MiSans"/>
              </a:rPr>
              <a:t>元数据 = SQLite，非 PostgreSQL</a:t>
            </a:r>
            <a:endParaRPr lang="en-US" sz="1200" noProof="1"/>
          </a:p>
        </p:txBody>
      </p:sp>
      <p:sp>
        <p:nvSpPr>
          <p:cNvPr id="33" name="sel3-body"/>
          <p:cNvSpPr txBox="1"/>
          <p:nvPr/>
        </p:nvSpPr>
        <p:spPr>
          <a:xfrm>
            <a:off x="8255000" y="5562600"/>
            <a:ext cx="3302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75756C"/>
                </a:solidFill>
                <a:latin typeface="MiSans"/>
                <a:ea typeface="MiSans"/>
              </a:rPr>
              <a:t>纯 Go 驱动零 CGO、单文件、单机足够；WAL + busy_timeout 规避锁竞争，免去 PG 运维。</a:t>
            </a:r>
            <a:endParaRPr lang="en-US" sz="1100" noProof="1"/>
          </a:p>
        </p:txBody>
      </p:sp>
      <p:sp>
        <p:nvSpPr>
          <p:cNvPr id="34" name="footer-rule"/>
          <p:cNvSpPr/>
          <p:nvPr/>
        </p:nvSpPr>
        <p:spPr>
          <a:xfrm>
            <a:off x="635000" y="64516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35" name="footer-left"/>
          <p:cNvSpPr txBox="1"/>
          <p:nvPr/>
        </p:nvSpPr>
        <p:spPr>
          <a:xfrm>
            <a:off x="635000" y="65532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open-ima · 架构技术分享</a:t>
            </a:r>
            <a:endParaRPr lang="en-US" sz="900" noProof="1"/>
          </a:p>
        </p:txBody>
      </p:sp>
      <p:sp>
        <p:nvSpPr>
          <p:cNvPr id="36" name="footer-page"/>
          <p:cNvSpPr txBox="1"/>
          <p:nvPr/>
        </p:nvSpPr>
        <p:spPr>
          <a:xfrm>
            <a:off x="10287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05 / 11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35000" y="431800"/>
            <a:ext cx="965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75756C"/>
                </a:solidFill>
                <a:latin typeface="MiSans"/>
                <a:ea typeface="MiSans"/>
              </a:rPr>
              <a:t>05 · 我们怎么做 —— 摄取流水线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35000" y="660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1B1B18"/>
                </a:solidFill>
                <a:latin typeface="MiSans"/>
                <a:ea typeface="MiSans"/>
              </a:rPr>
              <a:t>SQLite 任务表 + 状态机：零外部依赖复刻 MQ 的削峰与重试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35000" y="12700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5" name="n1-box"/>
          <p:cNvSpPr/>
          <p:nvPr/>
        </p:nvSpPr>
        <p:spPr>
          <a:xfrm>
            <a:off x="635000" y="1498600"/>
            <a:ext cx="1651000" cy="685800"/>
          </a:xfrm>
          <a:prstGeom prst="rect">
            <a:avLst/>
          </a:prstGeom>
          <a:solidFill>
            <a:srgbClr val="FDF6EE"/>
          </a:solidFill>
          <a:ln w="12700">
            <a:solidFill>
              <a:srgbClr val="E4E4DC"/>
            </a:solidFill>
          </a:ln>
        </p:spPr>
      </p:sp>
      <p:sp>
        <p:nvSpPr>
          <p:cNvPr id="6" name="n1-text"/>
          <p:cNvSpPr txBox="1"/>
          <p:nvPr/>
        </p:nvSpPr>
        <p:spPr>
          <a:xfrm>
            <a:off x="736600" y="1600200"/>
            <a:ext cx="1447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B1B18"/>
                </a:solidFill>
                <a:latin typeface="MiSans"/>
                <a:ea typeface="MiSans"/>
              </a:rPr>
              <a:t>上传 / URL 收录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5756C"/>
                </a:solidFill>
                <a:latin typeface="MiSans"/>
                <a:ea typeface="MiSans"/>
              </a:rPr>
              <a:t>multipart ≤ 50MB</a:t>
            </a:r>
            <a:endParaRPr lang="en-US" sz="1600" noProof="1"/>
          </a:p>
        </p:txBody>
      </p:sp>
      <p:sp>
        <p:nvSpPr>
          <p:cNvPr id="7" name="a1"/>
          <p:cNvSpPr/>
          <p:nvPr>
            <p:extLst>
              <p:ext uri="{F5677B7D-0D2A-4D9B-9A5C-6D8D7D0E5A5D}">
                <pptd:line encoding="base64url">eyJ2aWV3Qm94IjpbMSwxXSwicG9pbnRzIjoiMCwwLjUgMSwwLjUiLCJjdXJ2ZSI6InNoYXJwIn0</pptd:line>
              </p:ext>
            </p:extLst>
          </p:nvPr>
        </p:nvSpPr>
        <p:spPr>
          <a:xfrm>
            <a:off x="2336800" y="18161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8" name="n2-box"/>
          <p:cNvSpPr/>
          <p:nvPr/>
        </p:nvSpPr>
        <p:spPr>
          <a:xfrm>
            <a:off x="2667000" y="1498600"/>
            <a:ext cx="1651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9" name="n2-text"/>
          <p:cNvSpPr txBox="1"/>
          <p:nvPr/>
        </p:nvSpPr>
        <p:spPr>
          <a:xfrm>
            <a:off x="2768600" y="1600200"/>
            <a:ext cx="1447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B1B18"/>
                </a:solidFill>
                <a:latin typeface="MiSans"/>
                <a:ea typeface="MiSans"/>
              </a:rPr>
              <a:t>SHA-256 去重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5756C"/>
                </a:solidFill>
                <a:latin typeface="MiSans"/>
                <a:ea typeface="MiSans"/>
              </a:rPr>
              <a:t>同库同文件秒回</a:t>
            </a:r>
            <a:endParaRPr lang="en-US" sz="1600" noProof="1"/>
          </a:p>
        </p:txBody>
      </p:sp>
      <p:sp>
        <p:nvSpPr>
          <p:cNvPr id="10" name="a2"/>
          <p:cNvSpPr/>
          <p:nvPr>
            <p:extLst>
              <p:ext uri="{F5677B7D-0D2A-4D9B-9A5C-6D8D7D0E5A5D}">
                <pptd:line encoding="base64url">eyJ2aWV3Qm94IjpbMSwxXSwicG9pbnRzIjoiMCwwLjUgMSwwLjUiLCJjdXJ2ZSI6InNoYXJwIn0</pptd:line>
              </p:ext>
            </p:extLst>
          </p:nvPr>
        </p:nvSpPr>
        <p:spPr>
          <a:xfrm>
            <a:off x="4368800" y="18161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11" name="n3-box"/>
          <p:cNvSpPr/>
          <p:nvPr/>
        </p:nvSpPr>
        <p:spPr>
          <a:xfrm>
            <a:off x="4699000" y="1498600"/>
            <a:ext cx="241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12" name="n3-text"/>
          <p:cNvSpPr txBox="1"/>
          <p:nvPr/>
        </p:nvSpPr>
        <p:spPr>
          <a:xfrm>
            <a:off x="4800600" y="1600200"/>
            <a:ext cx="2209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B1B18"/>
                </a:solidFill>
                <a:latin typeface="MiSans"/>
                <a:ea typeface="MiSans"/>
              </a:rPr>
              <a:t>document(pending) + 投递 job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5756C"/>
                </a:solidFill>
                <a:latin typeface="MiSans"/>
                <a:ea typeface="MiSans"/>
              </a:rPr>
              <a:t>立即返回 202，请求与处理解耦</a:t>
            </a:r>
            <a:endParaRPr lang="en-US" sz="1600" noProof="1"/>
          </a:p>
        </p:txBody>
      </p:sp>
      <p:sp>
        <p:nvSpPr>
          <p:cNvPr id="13" name="a3"/>
          <p:cNvSpPr/>
          <p:nvPr>
            <p:extLst>
              <p:ext uri="{F5677B7D-0D2A-4D9B-9A5C-6D8D7D0E5A5D}">
                <pptd:line encoding="base64url">eyJ2aWV3Qm94IjpbMSwxXSwicG9pbnRzIjoiMCwwLjUgMSwwLjUiLCJjdXJ2ZSI6InNoYXJwIn0</pptd:line>
              </p:ext>
            </p:extLst>
          </p:nvPr>
        </p:nvSpPr>
        <p:spPr>
          <a:xfrm>
            <a:off x="7162800" y="1816100"/>
            <a:ext cx="2794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14" name="n4-box"/>
          <p:cNvSpPr/>
          <p:nvPr/>
        </p:nvSpPr>
        <p:spPr>
          <a:xfrm>
            <a:off x="7493000" y="1498600"/>
            <a:ext cx="4064000" cy="685800"/>
          </a:xfrm>
          <a:prstGeom prst="rect">
            <a:avLst/>
          </a:prstGeom>
          <a:solidFill>
            <a:srgbClr val="FDF6EE"/>
          </a:solidFill>
          <a:ln w="12700">
            <a:solidFill>
              <a:srgbClr val="E4E4DC"/>
            </a:solidFill>
          </a:ln>
        </p:spPr>
      </p:sp>
      <p:sp>
        <p:nvSpPr>
          <p:cNvPr id="15" name="n4-text"/>
          <p:cNvSpPr txBox="1"/>
          <p:nvPr/>
        </p:nvSpPr>
        <p:spPr>
          <a:xfrm>
            <a:off x="7594600" y="1600200"/>
            <a:ext cx="3860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200" noProof="1" b="1">
                <a:solidFill>
                  <a:srgbClr val="1B1B18"/>
                </a:solidFill>
                <a:latin typeface="MiSans"/>
                <a:ea typeface="MiSans"/>
              </a:rPr>
              <a:t>worker 事务内 Claim → 状态机推进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75756C"/>
                </a:solidFill>
                <a:latin typeface="MiSans"/>
                <a:ea typeface="MiSans"/>
              </a:rPr>
              <a:t>parsing → chunking → indexing → ready</a:t>
            </a:r>
            <a:endParaRPr lang="en-US" sz="1600" noProof="1"/>
          </a:p>
        </p:txBody>
      </p:sp>
      <p:sp>
        <p:nvSpPr>
          <p:cNvPr id="16" name="retry-title"/>
          <p:cNvSpPr txBox="1"/>
          <p:nvPr/>
        </p:nvSpPr>
        <p:spPr>
          <a:xfrm>
            <a:off x="635000" y="25908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1B18"/>
                </a:solidFill>
                <a:latin typeface="MiSans"/>
                <a:ea typeface="MiSans"/>
              </a:rPr>
              <a:t>重试与幂等</a:t>
            </a:r>
            <a:endParaRPr lang="en-US" sz="1200" noProof="1"/>
          </a:p>
        </p:txBody>
      </p:sp>
      <p:sp>
        <p:nvSpPr>
          <p:cNvPr id="17" name="retry-body"/>
          <p:cNvSpPr txBox="1"/>
          <p:nvPr/>
        </p:nvSpPr>
        <p:spPr>
          <a:xfrm>
            <a:off x="635000" y="2870200"/>
            <a:ext cx="5334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· 可重试错误：指数退避 1m / 5m / 15m，最多 3 次</a:t>
            </a:r>
            <a:endParaRPr lang="en-US" sz="1150" noProof="1"/>
          </a:p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· fatal（422 解析无内容 / 坏文件）：直接置 failed 不重试</a:t>
            </a:r>
            <a:endParaRPr lang="en-US" sz="1150" noProof="1"/>
          </a:p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· indexing 前先按 document_biz_id 清旧 chunk，重试不产生重复数据</a:t>
            </a:r>
            <a:endParaRPr lang="en-US" sz="1150" noProof="1"/>
          </a:p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· failed 文档提供 retry API，按失败阶段续跑</a:t>
            </a:r>
            <a:endParaRPr lang="en-US" sz="1150" noProof="1"/>
          </a:p>
        </p:txBody>
      </p:sp>
      <p:sp>
        <p:nvSpPr>
          <p:cNvPr id="18" name="retry-note-rule"/>
          <p:cNvSpPr/>
          <p:nvPr/>
        </p:nvSpPr>
        <p:spPr>
          <a:xfrm>
            <a:off x="635000" y="3810000"/>
            <a:ext cx="5334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19" name="retry-note"/>
          <p:cNvSpPr txBox="1"/>
          <p:nvPr/>
        </p:nvSpPr>
        <p:spPr>
          <a:xfrm>
            <a:off x="635000" y="3937000"/>
            <a:ext cx="533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1B1B18"/>
                </a:solidFill>
                <a:latin typeface="MiSans"/>
                <a:ea typeface="MiSans"/>
              </a:rPr>
              <a:t>worker 崩溃无心跳：每 5min 把超时 10min 仍 running 的任务重置回 pending，重新派发。</a:t>
            </a:r>
            <a:endParaRPr lang="en-US" sz="1150" noProof="1"/>
          </a:p>
        </p:txBody>
      </p:sp>
      <p:sp>
        <p:nvSpPr>
          <p:cNvPr id="20" name="mid-div"/>
          <p:cNvSpPr/>
          <p:nvPr/>
        </p:nvSpPr>
        <p:spPr>
          <a:xfrm>
            <a:off x="6350000" y="2590800"/>
            <a:ext cx="12700" cy="18542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21" name="del-title"/>
          <p:cNvSpPr txBox="1"/>
          <p:nvPr/>
        </p:nvSpPr>
        <p:spPr>
          <a:xfrm>
            <a:off x="6654800" y="2590800"/>
            <a:ext cx="4902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1B18"/>
                </a:solidFill>
                <a:latin typeface="MiSans"/>
                <a:ea typeface="MiSans"/>
              </a:rPr>
              <a:t>删除与对账 · 最终一致</a:t>
            </a:r>
            <a:endParaRPr lang="en-US" sz="1200" noProof="1"/>
          </a:p>
        </p:txBody>
      </p:sp>
      <p:sp>
        <p:nvSpPr>
          <p:cNvPr id="22" name="del-body"/>
          <p:cNvSpPr txBox="1"/>
          <p:nvPr/>
        </p:nvSpPr>
        <p:spPr>
          <a:xfrm>
            <a:off x="6654800" y="2870200"/>
            <a:ext cx="49022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1. document.status → deleting，立即返回</a:t>
            </a:r>
            <a:endParaRPr lang="en-US" sz="1150" noProof="1"/>
          </a:p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2. job 补偿式清理：Meili chunks → storage 文件 → SQLite 行</a:t>
            </a:r>
            <a:endParaRPr lang="en-US" sz="1150" noProof="1"/>
          </a:p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3. 任一步失败按策略重试</a:t>
            </a:r>
            <a:endParaRPr lang="en-US" sz="1150" noProof="1"/>
          </a:p>
          <a:p>
            <a:pPr>
              <a:lnSpc>
                <a:spcPct val="16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4. 主进程每 10min 投递 reconcile job，扫描卡住的文档</a:t>
            </a:r>
            <a:endParaRPr lang="en-US" sz="1150" noProof="1"/>
          </a:p>
        </p:txBody>
      </p:sp>
      <p:sp>
        <p:nvSpPr>
          <p:cNvPr id="23" name="del-note-rule"/>
          <p:cNvSpPr/>
          <p:nvPr/>
        </p:nvSpPr>
        <p:spPr>
          <a:xfrm>
            <a:off x="6654800" y="3810000"/>
            <a:ext cx="49022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24" name="del-note"/>
          <p:cNvSpPr txBox="1"/>
          <p:nvPr/>
        </p:nvSpPr>
        <p:spPr>
          <a:xfrm>
            <a:off x="6654800" y="3937000"/>
            <a:ext cx="4902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1B1B18"/>
                </a:solidFill>
                <a:latin typeface="MiSans"/>
                <a:ea typeface="MiSans"/>
              </a:rPr>
              <a:t>对应文章一的「Media 状态机 + 异步对账服务」：机制更小，最终一致的语义相同。</a:t>
            </a:r>
            <a:endParaRPr lang="en-US" sz="1150" noProof="1"/>
          </a:p>
        </p:txBody>
      </p:sp>
      <p:sp>
        <p:nvSpPr>
          <p:cNvPr id="25" name="chunk-rule"/>
          <p:cNvSpPr/>
          <p:nvPr/>
        </p:nvSpPr>
        <p:spPr>
          <a:xfrm>
            <a:off x="635000" y="49784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26" name="chunk-title"/>
          <p:cNvSpPr txBox="1"/>
          <p:nvPr/>
        </p:nvSpPr>
        <p:spPr>
          <a:xfrm>
            <a:off x="635000" y="5181600"/>
            <a:ext cx="1092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B1B18"/>
                </a:solidFill>
                <a:latin typeface="MiSans"/>
                <a:ea typeface="MiSans"/>
              </a:rPr>
              <a:t>分块策略 · 让检索单元带上下文</a:t>
            </a:r>
            <a:endParaRPr lang="en-US" sz="1200" noProof="1"/>
          </a:p>
        </p:txBody>
      </p:sp>
      <p:sp>
        <p:nvSpPr>
          <p:cNvPr id="27" name="chunk-body"/>
          <p:cNvSpPr txBox="1"/>
          <p:nvPr/>
        </p:nvSpPr>
        <p:spPr>
          <a:xfrm>
            <a:off x="635000" y="5461000"/>
            <a:ext cx="1092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按字符 512 / overlap 80 切分；检索内容 = 标题路径上下文（H1 &gt; H2 &gt; …）+ 正文，向量由 Meilisearch 调本地 Ollama bge-m3 生成（1024 维）。</a:t>
            </a:r>
            <a:endParaRPr lang="en-US" sz="1150" noProof="1"/>
          </a:p>
          <a:p>
            <a:pPr>
              <a:lnSpc>
                <a:spcPct val="170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chunk 正文与向量只存 Meilisearch；SQLite chunks 表仅存归属与顺序元数据，用于删除对账与引用定位——与文章一 Media / Chunk 的职责分工一致。</a:t>
            </a:r>
            <a:endParaRPr lang="en-US" sz="1150" noProof="1"/>
          </a:p>
        </p:txBody>
      </p:sp>
      <p:sp>
        <p:nvSpPr>
          <p:cNvPr id="28" name="footer-rule"/>
          <p:cNvSpPr/>
          <p:nvPr/>
        </p:nvSpPr>
        <p:spPr>
          <a:xfrm>
            <a:off x="635000" y="64516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29" name="footer-left"/>
          <p:cNvSpPr txBox="1"/>
          <p:nvPr/>
        </p:nvSpPr>
        <p:spPr>
          <a:xfrm>
            <a:off x="635000" y="65532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open-ima · 架构技术分享</a:t>
            </a:r>
            <a:endParaRPr lang="en-US" sz="900" noProof="1"/>
          </a:p>
        </p:txBody>
      </p:sp>
      <p:sp>
        <p:nvSpPr>
          <p:cNvPr id="30" name="footer-page"/>
          <p:cNvSpPr txBox="1"/>
          <p:nvPr/>
        </p:nvSpPr>
        <p:spPr>
          <a:xfrm>
            <a:off x="10287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06 / 11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35000" y="431800"/>
            <a:ext cx="965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75756C"/>
                </a:solidFill>
                <a:latin typeface="MiSans"/>
                <a:ea typeface="MiSans"/>
              </a:rPr>
              <a:t>06 · 我们怎么做 —— 检索与问答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35000" y="660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1B1B18"/>
                </a:solidFill>
                <a:latin typeface="MiSans"/>
                <a:ea typeface="MiSans"/>
              </a:rPr>
              <a:t>改写 + 双路 hybrid 召回 + RRF 融合，答案带来源引用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35000" y="12700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5" name="r1-box"/>
          <p:cNvSpPr/>
          <p:nvPr/>
        </p:nvSpPr>
        <p:spPr>
          <a:xfrm>
            <a:off x="635000" y="1574800"/>
            <a:ext cx="3429000" cy="1066800"/>
          </a:xfrm>
          <a:prstGeom prst="rect">
            <a:avLst/>
          </a:prstGeom>
          <a:solidFill>
            <a:srgbClr val="FDF6EE"/>
          </a:solidFill>
          <a:ln w="12700">
            <a:solidFill>
              <a:srgbClr val="E4E4DC"/>
            </a:solidFill>
          </a:ln>
        </p:spPr>
      </p:sp>
      <p:sp>
        <p:nvSpPr>
          <p:cNvPr id="6" name="r1-num"/>
          <p:cNvSpPr txBox="1"/>
          <p:nvPr/>
        </p:nvSpPr>
        <p:spPr>
          <a:xfrm>
            <a:off x="812800" y="17018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B45309"/>
                </a:solidFill>
                <a:latin typeface="MiSans"/>
                <a:ea typeface="MiSans"/>
              </a:rPr>
              <a:t>01</a:t>
            </a:r>
            <a:endParaRPr lang="en-US" sz="1300" noProof="1"/>
          </a:p>
        </p:txBody>
      </p:sp>
      <p:sp>
        <p:nvSpPr>
          <p:cNvPr id="7" name="r1-text"/>
          <p:cNvSpPr txBox="1"/>
          <p:nvPr/>
        </p:nvSpPr>
        <p:spPr>
          <a:xfrm>
            <a:off x="812800" y="2006600"/>
            <a:ext cx="3073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B1B18"/>
                </a:solidFill>
                <a:latin typeface="MiSans"/>
                <a:ea typeface="MiSans"/>
              </a:rPr>
              <a:t>用户 query 进入，SSE 流式响应建立</a:t>
            </a:r>
            <a:endParaRPr lang="en-US" sz="1150" noProof="1"/>
          </a:p>
        </p:txBody>
      </p:sp>
      <p:sp>
        <p:nvSpPr>
          <p:cNvPr id="8" name="ra1"/>
          <p:cNvSpPr/>
          <p:nvPr>
            <p:extLst>
              <p:ext uri="{F5677B7D-0D2A-4D9B-9A5C-6D8D7D0E5A5D}">
                <pptd:line encoding="base64url">eyJ2aWV3Qm94IjpbMSwxXSwicG9pbnRzIjoiMCwwLjUgMSwwLjUiLCJjdXJ2ZSI6InNoYXJwIn0</pptd:line>
              </p:ext>
            </p:extLst>
          </p:nvPr>
        </p:nvSpPr>
        <p:spPr>
          <a:xfrm>
            <a:off x="4140200" y="2082800"/>
            <a:ext cx="2286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9" name="r2-box"/>
          <p:cNvSpPr/>
          <p:nvPr/>
        </p:nvSpPr>
        <p:spPr>
          <a:xfrm>
            <a:off x="4445000" y="1574800"/>
            <a:ext cx="3429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10" name="r2-num"/>
          <p:cNvSpPr txBox="1"/>
          <p:nvPr/>
        </p:nvSpPr>
        <p:spPr>
          <a:xfrm>
            <a:off x="4622800" y="17018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B45309"/>
                </a:solidFill>
                <a:latin typeface="MiSans"/>
                <a:ea typeface="MiSans"/>
              </a:rPr>
              <a:t>02</a:t>
            </a:r>
            <a:endParaRPr lang="en-US" sz="1300" noProof="1"/>
          </a:p>
        </p:txBody>
      </p:sp>
      <p:sp>
        <p:nvSpPr>
          <p:cNvPr id="11" name="r2-text"/>
          <p:cNvSpPr txBox="1"/>
          <p:nvPr/>
        </p:nvSpPr>
        <p:spPr>
          <a:xfrm>
            <a:off x="4622800" y="2006600"/>
            <a:ext cx="3073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B1B18"/>
                </a:solidFill>
                <a:latin typeface="MiSans"/>
                <a:ea typeface="MiSans"/>
              </a:rPr>
              <a:t>LLM 结合最近 4 条历史改写为 1 条独立检索 query（失败静默跳过）</a:t>
            </a:r>
            <a:endParaRPr lang="en-US" sz="1150" noProof="1"/>
          </a:p>
        </p:txBody>
      </p:sp>
      <p:sp>
        <p:nvSpPr>
          <p:cNvPr id="12" name="ra2"/>
          <p:cNvSpPr/>
          <p:nvPr>
            <p:extLst>
              <p:ext uri="{F5677B7D-0D2A-4D9B-9A5C-6D8D7D0E5A5D}">
                <pptd:line encoding="base64url">eyJ2aWV3Qm94IjpbMSwxXSwicG9pbnRzIjoiMCwwLjUgMSwwLjUiLCJjdXJ2ZSI6InNoYXJwIn0</pptd:line>
              </p:ext>
            </p:extLst>
          </p:nvPr>
        </p:nvSpPr>
        <p:spPr>
          <a:xfrm>
            <a:off x="7950200" y="2082800"/>
            <a:ext cx="2286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13" name="r3-box"/>
          <p:cNvSpPr/>
          <p:nvPr/>
        </p:nvSpPr>
        <p:spPr>
          <a:xfrm>
            <a:off x="8255000" y="1574800"/>
            <a:ext cx="3302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14" name="r3-num"/>
          <p:cNvSpPr txBox="1"/>
          <p:nvPr/>
        </p:nvSpPr>
        <p:spPr>
          <a:xfrm>
            <a:off x="8432800" y="17018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B45309"/>
                </a:solidFill>
                <a:latin typeface="MiSans"/>
                <a:ea typeface="MiSans"/>
              </a:rPr>
              <a:t>03</a:t>
            </a:r>
            <a:endParaRPr lang="en-US" sz="1300" noProof="1"/>
          </a:p>
        </p:txBody>
      </p:sp>
      <p:sp>
        <p:nvSpPr>
          <p:cNvPr id="15" name="r3-text"/>
          <p:cNvSpPr txBox="1"/>
          <p:nvPr/>
        </p:nvSpPr>
        <p:spPr>
          <a:xfrm>
            <a:off x="8432800" y="20066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B1B18"/>
                </a:solidFill>
                <a:latin typeface="MiSans"/>
                <a:ea typeface="MiSans"/>
              </a:rPr>
              <a:t>原 query + 改写 query 双路 Meili hybrid 召回（semanticRatio 0.5）</a:t>
            </a:r>
            <a:endParaRPr lang="en-US" sz="1150" noProof="1"/>
          </a:p>
        </p:txBody>
      </p:sp>
      <p:sp>
        <p:nvSpPr>
          <p:cNvPr id="16" name="ra-down"/>
          <p:cNvSpPr/>
          <p:nvPr>
            <p:extLst>
              <p:ext uri="{F5677B7D-0D2A-4D9B-9A5C-6D8D7D0E5A5D}">
                <pptd:line encoding="base64url">eyJ2aWV3Qm94IjpbMSwxXSwicG9pbnRzIjoiMC41LDAgMC41LDEiLCJjdXJ2ZSI6InNoYXJwIn0</pptd:line>
              </p:ext>
            </p:extLst>
          </p:nvPr>
        </p:nvSpPr>
        <p:spPr>
          <a:xfrm>
            <a:off x="9855200" y="2692400"/>
            <a:ext cx="50800" cy="3302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lnTo>
                  <a:pt x="1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17" name="r4-box"/>
          <p:cNvSpPr/>
          <p:nvPr/>
        </p:nvSpPr>
        <p:spPr>
          <a:xfrm>
            <a:off x="8255000" y="3098800"/>
            <a:ext cx="3302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18" name="r4-num"/>
          <p:cNvSpPr txBox="1"/>
          <p:nvPr/>
        </p:nvSpPr>
        <p:spPr>
          <a:xfrm>
            <a:off x="8432800" y="32258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B45309"/>
                </a:solidFill>
                <a:latin typeface="MiSans"/>
                <a:ea typeface="MiSans"/>
              </a:rPr>
              <a:t>04</a:t>
            </a:r>
            <a:endParaRPr lang="en-US" sz="1300" noProof="1"/>
          </a:p>
        </p:txBody>
      </p:sp>
      <p:sp>
        <p:nvSpPr>
          <p:cNvPr id="19" name="r4-text"/>
          <p:cNvSpPr txBox="1"/>
          <p:nvPr/>
        </p:nvSpPr>
        <p:spPr>
          <a:xfrm>
            <a:off x="8432800" y="3530600"/>
            <a:ext cx="294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B1B18"/>
                </a:solidFill>
                <a:latin typeface="MiSans"/>
                <a:ea typeface="MiSans"/>
              </a:rPr>
              <a:t>Go 侧 RRF 融合：score = Σ 1/(60+rank+1)，去重取 Top-8</a:t>
            </a:r>
            <a:endParaRPr lang="en-US" sz="1150" noProof="1"/>
          </a:p>
        </p:txBody>
      </p:sp>
      <p:sp>
        <p:nvSpPr>
          <p:cNvPr id="20" name="ra4"/>
          <p:cNvSpPr/>
          <p:nvPr>
            <p:extLst>
              <p:ext uri="{F5677B7D-0D2A-4D9B-9A5C-6D8D7D0E5A5D}">
                <pptd:line encoding="base64url">eyJ2aWV3Qm94IjpbMSwxXSwicG9pbnRzIjoiMSwwLjUgMCwwLjUiLCJjdXJ2ZSI6InNoYXJwIn0</pptd:line>
              </p:ext>
            </p:extLst>
          </p:nvPr>
        </p:nvSpPr>
        <p:spPr>
          <a:xfrm>
            <a:off x="7950200" y="3606800"/>
            <a:ext cx="2286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1"/>
                </a:moveTo>
                <a:lnTo>
                  <a:pt x="0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21" name="r5-box"/>
          <p:cNvSpPr/>
          <p:nvPr/>
        </p:nvSpPr>
        <p:spPr>
          <a:xfrm>
            <a:off x="4445000" y="3098800"/>
            <a:ext cx="3429000" cy="1066800"/>
          </a:xfrm>
          <a:prstGeom prst="rect">
            <a:avLst/>
          </a:prstGeom>
          <a:solidFill>
            <a:srgbClr val="FDF6EE"/>
          </a:solidFill>
          <a:ln w="12700">
            <a:solidFill>
              <a:srgbClr val="E4E4DC"/>
            </a:solidFill>
          </a:ln>
        </p:spPr>
      </p:sp>
      <p:sp>
        <p:nvSpPr>
          <p:cNvPr id="22" name="r5-num"/>
          <p:cNvSpPr txBox="1"/>
          <p:nvPr/>
        </p:nvSpPr>
        <p:spPr>
          <a:xfrm>
            <a:off x="4622800" y="32258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B45309"/>
                </a:solidFill>
                <a:latin typeface="MiSans"/>
                <a:ea typeface="MiSans"/>
              </a:rPr>
              <a:t>05</a:t>
            </a:r>
            <a:endParaRPr lang="en-US" sz="1300" noProof="1"/>
          </a:p>
        </p:txBody>
      </p:sp>
      <p:sp>
        <p:nvSpPr>
          <p:cNvPr id="23" name="r5-text"/>
          <p:cNvSpPr txBox="1"/>
          <p:nvPr/>
        </p:nvSpPr>
        <p:spPr>
          <a:xfrm>
            <a:off x="4622800" y="3530600"/>
            <a:ext cx="3073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B1B18"/>
                </a:solidFill>
                <a:latin typeface="MiSans"/>
                <a:ea typeface="MiSans"/>
              </a:rPr>
              <a:t>LLM 生成：openai / anthropic 双协议，SSE 逐 token 推送</a:t>
            </a:r>
            <a:endParaRPr lang="en-US" sz="1150" noProof="1"/>
          </a:p>
        </p:txBody>
      </p:sp>
      <p:sp>
        <p:nvSpPr>
          <p:cNvPr id="24" name="ra5"/>
          <p:cNvSpPr/>
          <p:nvPr>
            <p:extLst>
              <p:ext uri="{F5677B7D-0D2A-4D9B-9A5C-6D8D7D0E5A5D}">
                <pptd:line encoding="base64url">eyJ2aWV3Qm94IjpbMSwxXSwicG9pbnRzIjoiMSwwLjUgMCwwLjUiLCJjdXJ2ZSI6InNoYXJwIn0</pptd:line>
              </p:ext>
            </p:extLst>
          </p:nvPr>
        </p:nvSpPr>
        <p:spPr>
          <a:xfrm>
            <a:off x="4140200" y="3606800"/>
            <a:ext cx="228600" cy="508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1"/>
                </a:moveTo>
                <a:lnTo>
                  <a:pt x="0" y="1"/>
                </a:lnTo>
              </a:path>
            </a:pathLst>
          </a:custGeom>
          <a:noFill/>
          <a:ln w="19050">
            <a:solidFill>
              <a:srgbClr val="75756C"/>
            </a:solidFill>
            <a:tailEnd type="arrow"/>
          </a:ln>
        </p:spPr>
      </p:sp>
      <p:sp>
        <p:nvSpPr>
          <p:cNvPr id="25" name="r6-box"/>
          <p:cNvSpPr/>
          <p:nvPr/>
        </p:nvSpPr>
        <p:spPr>
          <a:xfrm>
            <a:off x="635000" y="3098800"/>
            <a:ext cx="3429000" cy="106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DC"/>
            </a:solidFill>
          </a:ln>
        </p:spPr>
      </p:sp>
      <p:sp>
        <p:nvSpPr>
          <p:cNvPr id="26" name="r6-num"/>
          <p:cNvSpPr txBox="1"/>
          <p:nvPr/>
        </p:nvSpPr>
        <p:spPr>
          <a:xfrm>
            <a:off x="812800" y="3225800"/>
            <a:ext cx="50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B45309"/>
                </a:solidFill>
                <a:latin typeface="MiSans"/>
                <a:ea typeface="MiSans"/>
              </a:rPr>
              <a:t>06</a:t>
            </a:r>
            <a:endParaRPr lang="en-US" sz="1300" noProof="1"/>
          </a:p>
        </p:txBody>
      </p:sp>
      <p:sp>
        <p:nvSpPr>
          <p:cNvPr id="27" name="r6-text"/>
          <p:cNvSpPr txBox="1"/>
          <p:nvPr/>
        </p:nvSpPr>
        <p:spPr>
          <a:xfrm>
            <a:off x="812800" y="3530600"/>
            <a:ext cx="3073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1B1B18"/>
                </a:solidFill>
                <a:latin typeface="MiSans"/>
                <a:ea typeface="MiSans"/>
              </a:rPr>
              <a:t>落库：assistant 消息携 citations（文档 / chunk / 片段 / 分值）</a:t>
            </a:r>
            <a:endParaRPr lang="en-US" sz="1150" noProof="1"/>
          </a:p>
        </p:txBody>
      </p:sp>
      <p:sp>
        <p:nvSpPr>
          <p:cNvPr id="28" name="side-title"/>
          <p:cNvSpPr txBox="1"/>
          <p:nvPr/>
        </p:nvSpPr>
        <p:spPr>
          <a:xfrm>
            <a:off x="635000" y="46736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system prompt 编号引用来源，「来源不足要明说」</a:t>
            </a:r>
            <a:endParaRPr lang="en-US" sz="1250" noProof="1"/>
          </a:p>
        </p:txBody>
      </p:sp>
      <p:sp>
        <p:nvSpPr>
          <p:cNvPr id="29" name="side-body"/>
          <p:cNvSpPr txBox="1"/>
          <p:nvPr/>
        </p:nvSpPr>
        <p:spPr>
          <a:xfrm>
            <a:off x="635000" y="4978400"/>
            <a:ext cx="7239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召回阶段携带 filter：kb_biz_id = 当前知识库 —— 等价文章二的 KNN with filter，检索在指定库子数据集内完成。</a:t>
            </a:r>
            <a:endParaRPr lang="en-US" sz="1150" noProof="1"/>
          </a:p>
          <a:p>
            <a:pPr>
              <a:lnSpc>
                <a:spcPct val="170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内容搜索接口：GET /api/kbs/:id/search，mode = hybrid | text，attributesToHighlight 返回高亮片段。</a:t>
            </a:r>
            <a:endParaRPr lang="en-US" sz="1150" noProof="1"/>
          </a:p>
        </p:txBody>
      </p:sp>
      <p:sp>
        <p:nvSpPr>
          <p:cNvPr id="30" name="side-div"/>
          <p:cNvSpPr/>
          <p:nvPr/>
        </p:nvSpPr>
        <p:spPr>
          <a:xfrm>
            <a:off x="8255000" y="4673600"/>
            <a:ext cx="12700" cy="14224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31" name="side-note-label"/>
          <p:cNvSpPr txBox="1"/>
          <p:nvPr/>
        </p:nvSpPr>
        <p:spPr>
          <a:xfrm>
            <a:off x="8559800" y="4673600"/>
            <a:ext cx="2997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B45309"/>
                </a:solidFill>
                <a:latin typeface="MiSans"/>
                <a:ea typeface="MiSans"/>
              </a:rPr>
              <a:t>库级隔离</a:t>
            </a:r>
            <a:endParaRPr lang="en-US" sz="1250" noProof="1"/>
          </a:p>
        </p:txBody>
      </p:sp>
      <p:sp>
        <p:nvSpPr>
          <p:cNvPr id="32" name="side-note"/>
          <p:cNvSpPr txBox="1"/>
          <p:nvPr/>
        </p:nvSpPr>
        <p:spPr>
          <a:xfrm>
            <a:off x="8559800" y="4978400"/>
            <a:ext cx="29972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kb_biz_id 设为 Meilisearch filterable 字段；文章二靠 _routing + slice 解决的租户隔离，单机单索引用一次过滤完成。</a:t>
            </a:r>
            <a:endParaRPr lang="en-US" sz="1150" noProof="1"/>
          </a:p>
        </p:txBody>
      </p:sp>
      <p:sp>
        <p:nvSpPr>
          <p:cNvPr id="33" name="footer-rule"/>
          <p:cNvSpPr/>
          <p:nvPr/>
        </p:nvSpPr>
        <p:spPr>
          <a:xfrm>
            <a:off x="635000" y="64516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34" name="footer-left"/>
          <p:cNvSpPr txBox="1"/>
          <p:nvPr/>
        </p:nvSpPr>
        <p:spPr>
          <a:xfrm>
            <a:off x="635000" y="65532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open-ima · 架构技术分享</a:t>
            </a:r>
            <a:endParaRPr lang="en-US" sz="900" noProof="1"/>
          </a:p>
        </p:txBody>
      </p:sp>
      <p:sp>
        <p:nvSpPr>
          <p:cNvPr id="35" name="footer-page"/>
          <p:cNvSpPr txBox="1"/>
          <p:nvPr/>
        </p:nvSpPr>
        <p:spPr>
          <a:xfrm>
            <a:off x="10287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07 / 11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35000" y="431800"/>
            <a:ext cx="965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75756C"/>
                </a:solidFill>
                <a:latin typeface="MiSans"/>
                <a:ea typeface="MiSans"/>
              </a:rPr>
              <a:t>07 · 思想映射 · 核心页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35000" y="660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1B1B18"/>
                </a:solidFill>
                <a:latin typeface="MiSans"/>
                <a:ea typeface="MiSans"/>
              </a:rPr>
              <a:t>参考架构的每一项思想，都有一个本地等价实现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35000" y="12700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graphicFrame>
        <p:nvGraphicFramePr>
          <p:cNvPr id="5" name="mapping-table"/>
          <p:cNvGraphicFramePr>
            <a:graphicFrameLocks noGrp="1"/>
          </p:cNvGraphicFramePr>
          <p:nvPr/>
        </p:nvGraphicFramePr>
        <p:xfrm>
          <a:off x="635000" y="1473200"/>
          <a:ext cx="10922000" cy="4876800"/>
        </p:xfrm>
        <a:graphic>
          <a:graphicData uri="http://schemas.openxmlformats.org/drawingml/2006/table">
            <a:tbl>
              <a:tblPr/>
              <a:tblGrid>
                <a:gridCol w="2948940"/>
                <a:gridCol w="3822700"/>
                <a:gridCol w="4150360"/>
              </a:tblGrid>
              <a:tr h="429158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文章思想（来源）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B1B18"/>
                      </a:solidFill>
                    </a:lnB>
                    <a:solidFill>
                      <a:srgbClr val="1B1B1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腾讯 ima 的实现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B1B18"/>
                      </a:solidFill>
                    </a:lnB>
                    <a:solidFill>
                      <a:srgbClr val="1B1B1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open-ima 的本地化做法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B1B18"/>
                      </a:solidFill>
                    </a:lnB>
                    <a:solidFill>
                      <a:srgbClr val="1B1B18"/>
                    </a:solidFill>
                  </a:tcPr>
                </a:tc>
              </a:tr>
              <a:tr h="55595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两层数据模型（文章 1）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Media 面向用户管理，Chunk 面向 RAG 检索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documents / chunks 分工一致：SQLite 存管理元数据，正文与向量只存 Meilisearch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</a:tr>
              <a:tr h="55595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统一接入层 + 独立解析层（文章 1）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知识库服务 + 媒体解析服务按职责拆分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Go 用例编排接入与状态机；解析隔离在 Python sidecar，注册表按类型路由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</a:tr>
              <a:tr h="55595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消息队列异步削峰（文章 1）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MQ 集群削峰填谷，解耦请求与解析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SQLite jobs 表 + worker pool（并发 4），任务表天然缓冲上传洪峰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</a:tr>
              <a:tr h="55595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最终一致对账（文章 1）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Media 状态机 + 独立异步对账服务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补偿式删除 Meili → 文件 → DB + 每 10min reconcile job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</a:tr>
              <a:tr h="55595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一套引擎多种检索（文章 2）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ES 同时承载 BM25 + dense_vector + RRF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Meilisearch 原生 hybrid search（q + vector + RRF）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</a:tr>
              <a:tr h="55595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租户级隔离（文章 2）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_routing + bbq_disk slice 按 tenant_id 隔离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kb_biz_id 设为 filterable 字段，检索时一次过滤完成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</a:tr>
              <a:tr h="55595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Query 改写（文章 2）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多 query 扩展后双路召回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LLM 结合历史生成 1 条扩展 query，与原 query 合并召回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</a:tr>
              <a:tr h="555955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权限体系（文章 1）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权限深度建模 + 统一权限网关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V1 明确不做：本地单用户无授权问题，演进路径预留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</a:tr>
            </a:tbl>
          </a:graphicData>
        </a:graphic>
      </p:graphicFrame>
      <p:sp>
        <p:nvSpPr>
          <p:cNvPr id="6" name="footer-rule"/>
          <p:cNvSpPr/>
          <p:nvPr/>
        </p:nvSpPr>
        <p:spPr>
          <a:xfrm>
            <a:off x="635000" y="64516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7" name="footer-left"/>
          <p:cNvSpPr txBox="1"/>
          <p:nvPr/>
        </p:nvSpPr>
        <p:spPr>
          <a:xfrm>
            <a:off x="635000" y="65532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open-ima · 架构技术分享</a:t>
            </a:r>
            <a:endParaRPr lang="en-US" sz="900" noProof="1"/>
          </a:p>
        </p:txBody>
      </p:sp>
      <p:sp>
        <p:nvSpPr>
          <p:cNvPr id="8" name="footer-page"/>
          <p:cNvSpPr txBox="1"/>
          <p:nvPr/>
        </p:nvSpPr>
        <p:spPr>
          <a:xfrm>
            <a:off x="10287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08 / 11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35000" y="431800"/>
            <a:ext cx="965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75756C"/>
                </a:solidFill>
                <a:latin typeface="MiSans"/>
                <a:ea typeface="MiSans"/>
              </a:rPr>
              <a:t>08 · 出发点与取舍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35000" y="660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1B1B18"/>
                </a:solidFill>
                <a:latin typeface="MiSans"/>
                <a:ea typeface="MiSans"/>
              </a:rPr>
              <a:t>四个出发点，决定了哪些拿来、哪些放弃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35000" y="12700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5" name="left-head"/>
          <p:cNvSpPr txBox="1"/>
          <p:nvPr/>
        </p:nvSpPr>
        <p:spPr>
          <a:xfrm>
            <a:off x="635000" y="1524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B45309"/>
                </a:solidFill>
                <a:latin typeface="MiSans"/>
                <a:ea typeface="MiSans"/>
              </a:rPr>
              <a:t>出发点 · 为什么本地化</a:t>
            </a:r>
            <a:endParaRPr lang="en-US" sz="1400" noProof="1"/>
          </a:p>
        </p:txBody>
      </p:sp>
      <p:sp>
        <p:nvSpPr>
          <p:cNvPr id="6" name="l1-label"/>
          <p:cNvSpPr txBox="1"/>
          <p:nvPr/>
        </p:nvSpPr>
        <p:spPr>
          <a:xfrm>
            <a:off x="635000" y="1981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隐私优先</a:t>
            </a:r>
            <a:endParaRPr lang="en-US" sz="1250" noProof="1"/>
          </a:p>
        </p:txBody>
      </p:sp>
      <p:sp>
        <p:nvSpPr>
          <p:cNvPr id="7" name="l1-body"/>
          <p:cNvSpPr txBox="1"/>
          <p:nvPr/>
        </p:nvSpPr>
        <p:spPr>
          <a:xfrm>
            <a:off x="635000" y="2235200"/>
            <a:ext cx="508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个人文档不出本机；Embedding 由本地 Ollama 完成，这是立场差异，不只是选型差异。</a:t>
            </a:r>
            <a:endParaRPr lang="en-US" sz="1150" noProof="1"/>
          </a:p>
        </p:txBody>
      </p:sp>
      <p:sp>
        <p:nvSpPr>
          <p:cNvPr id="8" name="l2-label"/>
          <p:cNvSpPr txBox="1"/>
          <p:nvPr/>
        </p:nvSpPr>
        <p:spPr>
          <a:xfrm>
            <a:off x="635000" y="284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部署成本</a:t>
            </a:r>
            <a:endParaRPr lang="en-US" sz="1250" noProof="1"/>
          </a:p>
        </p:txBody>
      </p:sp>
      <p:sp>
        <p:nvSpPr>
          <p:cNvPr id="9" name="l2-body"/>
          <p:cNvSpPr txBox="1"/>
          <p:nvPr/>
        </p:nvSpPr>
        <p:spPr>
          <a:xfrm>
            <a:off x="635000" y="3098800"/>
            <a:ext cx="508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本地机器跑不起 ES 集群（JVM 镜像 600MB+、内存 1GB 起）；四个进程 compose 一键启动。</a:t>
            </a:r>
            <a:endParaRPr lang="en-US" sz="1150" noProof="1"/>
          </a:p>
        </p:txBody>
      </p:sp>
      <p:sp>
        <p:nvSpPr>
          <p:cNvPr id="10" name="l3-label"/>
          <p:cNvSpPr txBox="1"/>
          <p:nvPr/>
        </p:nvSpPr>
        <p:spPr>
          <a:xfrm>
            <a:off x="635000" y="3708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中文检索质量</a:t>
            </a:r>
            <a:endParaRPr lang="en-US" sz="1250" noProof="1"/>
          </a:p>
        </p:txBody>
      </p:sp>
      <p:sp>
        <p:nvSpPr>
          <p:cNvPr id="11" name="l3-body"/>
          <p:cNvSpPr txBox="1"/>
          <p:nvPr/>
        </p:nvSpPr>
        <p:spPr>
          <a:xfrm>
            <a:off x="635000" y="3962400"/>
            <a:ext cx="508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SQLite FTS5 的 unicode61 分词器对中文基本不可用；Meilisearch 内置 jieba，开箱可用。</a:t>
            </a:r>
            <a:endParaRPr lang="en-US" sz="1150" noProof="1"/>
          </a:p>
        </p:txBody>
      </p:sp>
      <p:sp>
        <p:nvSpPr>
          <p:cNvPr id="12" name="l4-label"/>
          <p:cNvSpPr txBox="1"/>
          <p:nvPr/>
        </p:nvSpPr>
        <p:spPr>
          <a:xfrm>
            <a:off x="635000" y="4572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零运维</a:t>
            </a:r>
            <a:endParaRPr lang="en-US" sz="1250" noProof="1"/>
          </a:p>
        </p:txBody>
      </p:sp>
      <p:sp>
        <p:nvSpPr>
          <p:cNvPr id="13" name="l4-body"/>
          <p:cNvSpPr txBox="1"/>
          <p:nvPr/>
        </p:nvSpPr>
        <p:spPr>
          <a:xfrm>
            <a:off x="635000" y="4826000"/>
            <a:ext cx="508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不引入 MQ / PG 等需要看护的外部组件；SQLite WAL + 单写者已足够。</a:t>
            </a:r>
            <a:endParaRPr lang="en-US" sz="1150" noProof="1"/>
          </a:p>
        </p:txBody>
      </p:sp>
      <p:sp>
        <p:nvSpPr>
          <p:cNvPr id="14" name="mid-div"/>
          <p:cNvSpPr/>
          <p:nvPr/>
        </p:nvSpPr>
        <p:spPr>
          <a:xfrm>
            <a:off x="6096000" y="1600200"/>
            <a:ext cx="12700" cy="36322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15" name="right-head"/>
          <p:cNvSpPr txBox="1"/>
          <p:nvPr/>
        </p:nvSpPr>
        <p:spPr>
          <a:xfrm>
            <a:off x="6477000" y="15240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3E5C76"/>
                </a:solidFill>
                <a:latin typeface="MiSans"/>
                <a:ea typeface="MiSans"/>
              </a:rPr>
              <a:t>有意识的放弃 · 为什么可以不要</a:t>
            </a:r>
            <a:endParaRPr lang="en-US" sz="1400" noProof="1"/>
          </a:p>
        </p:txBody>
      </p:sp>
      <p:sp>
        <p:nvSpPr>
          <p:cNvPr id="16" name="r1-label"/>
          <p:cNvSpPr txBox="1"/>
          <p:nvPr/>
        </p:nvSpPr>
        <p:spPr>
          <a:xfrm>
            <a:off x="6477000" y="1981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微服务与分布式组件</a:t>
            </a:r>
            <a:endParaRPr lang="en-US" sz="1250" noProof="1"/>
          </a:p>
        </p:txBody>
      </p:sp>
      <p:sp>
        <p:nvSpPr>
          <p:cNvPr id="17" name="r1-body"/>
          <p:cNvSpPr txBox="1"/>
          <p:nvPr/>
        </p:nvSpPr>
        <p:spPr>
          <a:xfrm>
            <a:off x="6477000" y="2235200"/>
            <a:ext cx="508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为零概率的并发事件付确定的复杂度成本；单机 WAL + 单写者已规避锁竞争。</a:t>
            </a:r>
            <a:endParaRPr lang="en-US" sz="1150" noProof="1"/>
          </a:p>
        </p:txBody>
      </p:sp>
      <p:sp>
        <p:nvSpPr>
          <p:cNvPr id="18" name="r2-label"/>
          <p:cNvSpPr txBox="1"/>
          <p:nvPr/>
        </p:nvSpPr>
        <p:spPr>
          <a:xfrm>
            <a:off x="6477000" y="28448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权限体系与统一权限网关</a:t>
            </a:r>
            <a:endParaRPr lang="en-US" sz="1250" noProof="1"/>
          </a:p>
        </p:txBody>
      </p:sp>
      <p:sp>
        <p:nvSpPr>
          <p:cNvPr id="19" name="r2-body"/>
          <p:cNvSpPr txBox="1"/>
          <p:nvPr/>
        </p:nvSpPr>
        <p:spPr>
          <a:xfrm>
            <a:off x="6477000" y="3098800"/>
            <a:ext cx="508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单用户场景没有授权问题；演进路径里预留了用户体系与权限网关的补法。</a:t>
            </a:r>
            <a:endParaRPr lang="en-US" sz="1150" noProof="1"/>
          </a:p>
        </p:txBody>
      </p:sp>
      <p:sp>
        <p:nvSpPr>
          <p:cNvPr id="20" name="r3-label"/>
          <p:cNvSpPr txBox="1"/>
          <p:nvPr/>
        </p:nvSpPr>
        <p:spPr>
          <a:xfrm>
            <a:off x="6477000" y="37084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ES 集群设施（rollover / routing / slice）</a:t>
            </a:r>
            <a:endParaRPr lang="en-US" sz="1250" noProof="1"/>
          </a:p>
        </p:txBody>
      </p:sp>
      <p:sp>
        <p:nvSpPr>
          <p:cNvPr id="21" name="r3-body"/>
          <p:cNvSpPr txBox="1"/>
          <p:nvPr/>
        </p:nvSpPr>
        <p:spPr>
          <a:xfrm>
            <a:off x="6477000" y="3962400"/>
            <a:ext cx="508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单索引不存在分片扇出与热点；bbq_disk 那套是为几百个 shard 的内存成本准备的。</a:t>
            </a:r>
            <a:endParaRPr lang="en-US" sz="1150" noProof="1"/>
          </a:p>
        </p:txBody>
      </p:sp>
      <p:sp>
        <p:nvSpPr>
          <p:cNvPr id="22" name="r4-label"/>
          <p:cNvSpPr txBox="1"/>
          <p:nvPr/>
        </p:nvSpPr>
        <p:spPr>
          <a:xfrm>
            <a:off x="6477000" y="45720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B1B18"/>
                </a:solidFill>
                <a:latin typeface="MiSans"/>
                <a:ea typeface="MiSans"/>
              </a:rPr>
              <a:t>OCR / 音视频等 20+ 格式</a:t>
            </a:r>
            <a:endParaRPr lang="en-US" sz="1250" noProof="1"/>
          </a:p>
        </p:txBody>
      </p:sp>
      <p:sp>
        <p:nvSpPr>
          <p:cNvPr id="23" name="r4-body"/>
          <p:cNvSpPr txBox="1"/>
          <p:nvPr/>
        </p:nvSpPr>
        <p:spPr>
          <a:xfrm>
            <a:off x="6477000" y="4826000"/>
            <a:ext cx="5080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75756C"/>
                </a:solidFill>
                <a:latin typeface="MiSans"/>
                <a:ea typeface="MiSans"/>
              </a:rPr>
              <a:t>V1 聚焦 6 种文本格式；parser 协议预留，后续可换 docling 不动主流程。</a:t>
            </a:r>
            <a:endParaRPr lang="en-US" sz="1150" noProof="1"/>
          </a:p>
        </p:txBody>
      </p:sp>
      <p:sp>
        <p:nvSpPr>
          <p:cNvPr id="24" name="bottom-rule"/>
          <p:cNvSpPr/>
          <p:nvPr/>
        </p:nvSpPr>
        <p:spPr>
          <a:xfrm>
            <a:off x="635000" y="55880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25" name="bottom-state"/>
          <p:cNvSpPr txBox="1"/>
          <p:nvPr/>
        </p:nvSpPr>
        <p:spPr>
          <a:xfrm>
            <a:off x="635000" y="5816600"/>
            <a:ext cx="1092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1B1B18"/>
                </a:solidFill>
                <a:latin typeface="MiSans"/>
                <a:ea typeface="MiSans"/>
              </a:rPr>
              <a:t>这些不是想不到，而是设计文档里显式列出的「明确不做」，每一项都配了演进触发条件——是权衡，不是遗漏。</a:t>
            </a:r>
            <a:endParaRPr lang="en-US" sz="1300" noProof="1"/>
          </a:p>
        </p:txBody>
      </p:sp>
      <p:sp>
        <p:nvSpPr>
          <p:cNvPr id="26" name="footer-rule"/>
          <p:cNvSpPr/>
          <p:nvPr/>
        </p:nvSpPr>
        <p:spPr>
          <a:xfrm>
            <a:off x="635000" y="64516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27" name="footer-left"/>
          <p:cNvSpPr txBox="1"/>
          <p:nvPr/>
        </p:nvSpPr>
        <p:spPr>
          <a:xfrm>
            <a:off x="635000" y="65532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open-ima · 架构技术分享</a:t>
            </a:r>
            <a:endParaRPr lang="en-US" sz="900" noProof="1"/>
          </a:p>
        </p:txBody>
      </p:sp>
      <p:sp>
        <p:nvSpPr>
          <p:cNvPr id="28" name="footer-page"/>
          <p:cNvSpPr txBox="1"/>
          <p:nvPr/>
        </p:nvSpPr>
        <p:spPr>
          <a:xfrm>
            <a:off x="10287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09 / 11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35000" y="431800"/>
            <a:ext cx="965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75756C"/>
                </a:solidFill>
                <a:latin typeface="MiSans"/>
                <a:ea typeface="MiSans"/>
              </a:rPr>
              <a:t>09 · 对比结论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35000" y="660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1B1B18"/>
                </a:solidFill>
                <a:latin typeface="MiSans"/>
                <a:ea typeface="MiSans"/>
              </a:rPr>
              <a:t>两种架构各有代价，各自服务不同的场景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35000" y="12700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graphicFrame>
        <p:nvGraphicFramePr>
          <p:cNvPr id="5" name="compare-table"/>
          <p:cNvGraphicFramePr>
            <a:graphicFrameLocks noGrp="1"/>
          </p:cNvGraphicFramePr>
          <p:nvPr/>
        </p:nvGraphicFramePr>
        <p:xfrm>
          <a:off x="635000" y="1524000"/>
          <a:ext cx="10922000" cy="3429000"/>
        </p:xfrm>
        <a:graphic>
          <a:graphicData uri="http://schemas.openxmlformats.org/drawingml/2006/table">
            <a:tbl>
              <a:tblPr/>
              <a:tblGrid>
                <a:gridCol w="1529080"/>
                <a:gridCol w="4696460"/>
                <a:gridCol w="4696460"/>
              </a:tblGrid>
              <a:tr h="54864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B1B18"/>
                      </a:solidFill>
                    </a:lnB>
                    <a:solidFill>
                      <a:srgbClr val="1B1B1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腾讯 ima（云端）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B1B18"/>
                      </a:solidFill>
                    </a:lnB>
                    <a:solidFill>
                      <a:srgbClr val="1B1B1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open-ima（本地）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B1B18"/>
                      </a:solidFill>
                    </a:lnB>
                    <a:solidFill>
                      <a:srgbClr val="1B1B18"/>
                    </a:solidFill>
                  </a:tcPr>
                </a:tc>
              </a:tr>
              <a:tr h="9601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 b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架构优点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弹性扩展 · 多团队协作 · 权限完备 · 数据规模无上限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隐私好 · 零运维 · 一键部署 · 离线可用 · 资源占用低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</a:tr>
              <a:tr h="9601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 b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架构代价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依赖云基础设施 · 成本高 · 数据离开本机 · JVM 资源重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容量受单机限制 · 无多用户协作 · 可用性靠单机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</a:tr>
              <a:tr h="960120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 b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适用场景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企业团队知识库 · 海量数据共享 · 细粒度权限管控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个人知识管理 · 隐私敏感文档 · 内网 / 离线环境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statement-bar"/>
          <p:cNvSpPr/>
          <p:nvPr/>
        </p:nvSpPr>
        <p:spPr>
          <a:xfrm>
            <a:off x="635000" y="5384800"/>
            <a:ext cx="50800" cy="5588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7" name="statement"/>
          <p:cNvSpPr txBox="1"/>
          <p:nvPr/>
        </p:nvSpPr>
        <p:spPr>
          <a:xfrm>
            <a:off x="838200" y="5384800"/>
            <a:ext cx="107188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450" noProof="1">
                <a:solidFill>
                  <a:srgbClr val="1B1B18"/>
                </a:solidFill>
                <a:latin typeface="MiSans"/>
                <a:ea typeface="MiSans"/>
              </a:rPr>
              <a:t>ima 解决的是「千万租户如何共用一套系统」；open-ima 解决的是「一个人如何零成本拥有同样的能力」。</a:t>
            </a:r>
            <a:endParaRPr lang="en-US" sz="1450" noProof="1"/>
          </a:p>
        </p:txBody>
      </p:sp>
      <p:sp>
        <p:nvSpPr>
          <p:cNvPr id="8" name="footer-rule"/>
          <p:cNvSpPr/>
          <p:nvPr/>
        </p:nvSpPr>
        <p:spPr>
          <a:xfrm>
            <a:off x="635000" y="64516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9" name="footer-left"/>
          <p:cNvSpPr txBox="1"/>
          <p:nvPr/>
        </p:nvSpPr>
        <p:spPr>
          <a:xfrm>
            <a:off x="635000" y="65532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open-ima · 架构技术分享</a:t>
            </a:r>
            <a:endParaRPr lang="en-US" sz="900" noProof="1"/>
          </a:p>
        </p:txBody>
      </p:sp>
      <p:sp>
        <p:nvSpPr>
          <p:cNvPr id="10" name="footer-page"/>
          <p:cNvSpPr txBox="1"/>
          <p:nvPr/>
        </p:nvSpPr>
        <p:spPr>
          <a:xfrm>
            <a:off x="10287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10 / 11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35000" y="431800"/>
            <a:ext cx="965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spc="200" kern="0">
                <a:solidFill>
                  <a:srgbClr val="75756C"/>
                </a:solidFill>
                <a:latin typeface="MiSans"/>
                <a:ea typeface="MiSans"/>
              </a:rPr>
              <a:t>10 · 演进与收束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635000" y="660400"/>
            <a:ext cx="1092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300" noProof="1" b="1">
                <a:solidFill>
                  <a:srgbClr val="1B1B18"/>
                </a:solidFill>
                <a:latin typeface="MiSans"/>
                <a:ea typeface="MiSans"/>
              </a:rPr>
              <a:t>架构留了演进口：当约束变化时，替换点在接口上</a:t>
            </a:r>
            <a:endParaRPr lang="en-US" sz="2300" noProof="1"/>
          </a:p>
        </p:txBody>
      </p:sp>
      <p:sp>
        <p:nvSpPr>
          <p:cNvPr id="4" name="title-rule"/>
          <p:cNvSpPr/>
          <p:nvPr/>
        </p:nvSpPr>
        <p:spPr>
          <a:xfrm>
            <a:off x="635000" y="12700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graphicFrame>
        <p:nvGraphicFramePr>
          <p:cNvPr id="5" name="evo-table"/>
          <p:cNvGraphicFramePr>
            <a:graphicFrameLocks noGrp="1"/>
          </p:cNvGraphicFramePr>
          <p:nvPr/>
        </p:nvGraphicFramePr>
        <p:xfrm>
          <a:off x="635000" y="1473200"/>
          <a:ext cx="10922000" cy="3632200"/>
        </p:xfrm>
        <a:graphic>
          <a:graphicData uri="http://schemas.openxmlformats.org/drawingml/2006/table">
            <a:tbl>
              <a:tblPr/>
              <a:tblGrid>
                <a:gridCol w="1529080"/>
                <a:gridCol w="3058160"/>
                <a:gridCol w="6334760"/>
              </a:tblGrid>
              <a:tr h="43586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方向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B1B18"/>
                      </a:solidFill>
                    </a:lnB>
                    <a:solidFill>
                      <a:srgbClr val="1B1B1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触发条件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B1B18"/>
                      </a:solidFill>
                    </a:lnB>
                    <a:solidFill>
                      <a:srgbClr val="1B1B18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1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演进动作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B1B18"/>
                      </a:solidFill>
                    </a:lnB>
                    <a:solidFill>
                      <a:srgbClr val="1B1B18"/>
                    </a:solidFill>
                  </a:tcPr>
                </a:tc>
              </a:tr>
              <a:tr h="6392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解析质量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复杂排版 / 扫描件需求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parser sidecar 换 docling（实现同一 Parser 协议，主流程不动）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</a:tr>
              <a:tr h="6392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笔记内容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用户需要 ima 原生内容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媒体中心新增 source_type = note，入库与检索链路零改动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</a:tr>
              <a:tr h="6392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存储上云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多机部署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storage 换 S3 / COS；Meilisearch → ES（检索层已抽象隔离）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</a:tr>
              <a:tr h="6392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并发与多用户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多人共用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任务表 → Redis / MQ；worker 独立进程；补用户体系与权限网关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solidFill>
                      <a:srgbClr val="F6F6F1"/>
                    </a:solidFill>
                  </a:tcPr>
                </a:tc>
              </a:tr>
              <a:tr h="639267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检索质量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召回不达标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1B1B18"/>
                          </a:solidFill>
                          <a:latin typeface="Times New Roman"/>
                          <a:ea typeface="Times New Roman"/>
                        </a:rPr>
                        <a:t>Query 改写扩到多 query · 加 rerank 模型 · 按文档类型调 semanticRatio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4E4D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closing-rule"/>
          <p:cNvSpPr/>
          <p:nvPr/>
        </p:nvSpPr>
        <p:spPr>
          <a:xfrm>
            <a:off x="635000" y="54610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7" name="closing-bar"/>
          <p:cNvSpPr/>
          <p:nvPr/>
        </p:nvSpPr>
        <p:spPr>
          <a:xfrm>
            <a:off x="635000" y="5740400"/>
            <a:ext cx="50800" cy="4572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8" name="closing"/>
          <p:cNvSpPr txBox="1"/>
          <p:nvPr/>
        </p:nvSpPr>
        <p:spPr>
          <a:xfrm>
            <a:off x="838200" y="5715000"/>
            <a:ext cx="1071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5000"/>
              </a:lnSpc>
            </a:pPr>
            <a:r>
              <a:rPr lang="en-US" sz="1350" noProof="1">
                <a:solidFill>
                  <a:srgbClr val="1B1B18"/>
                </a:solidFill>
                <a:latin typeface="MiSans"/>
                <a:ea typeface="MiSans"/>
              </a:rPr>
              <a:t>参考文章自己的结论：架构的生命力在于演进，价值在于务实。open-ima 做的，是同一套方法论在单机约束下的重新推导。</a:t>
            </a:r>
            <a:endParaRPr lang="en-US" sz="1350" noProof="1"/>
          </a:p>
        </p:txBody>
      </p:sp>
      <p:sp>
        <p:nvSpPr>
          <p:cNvPr id="9" name="footer-rule"/>
          <p:cNvSpPr/>
          <p:nvPr/>
        </p:nvSpPr>
        <p:spPr>
          <a:xfrm>
            <a:off x="635000" y="6451600"/>
            <a:ext cx="10922000" cy="12700"/>
          </a:xfrm>
          <a:prstGeom prst="rect">
            <a:avLst/>
          </a:prstGeom>
          <a:solidFill>
            <a:srgbClr val="E4E4DC"/>
          </a:solidFill>
          <a:ln>
            <a:noFill/>
          </a:ln>
        </p:spPr>
      </p:sp>
      <p:sp>
        <p:nvSpPr>
          <p:cNvPr id="10" name="footer-left"/>
          <p:cNvSpPr txBox="1"/>
          <p:nvPr/>
        </p:nvSpPr>
        <p:spPr>
          <a:xfrm>
            <a:off x="635000" y="65532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open-ima · 架构技术分享</a:t>
            </a:r>
            <a:endParaRPr lang="en-US" sz="900" noProof="1"/>
          </a:p>
        </p:txBody>
      </p:sp>
      <p:sp>
        <p:nvSpPr>
          <p:cNvPr id="11" name="footer-page"/>
          <p:cNvSpPr txBox="1"/>
          <p:nvPr/>
        </p:nvSpPr>
        <p:spPr>
          <a:xfrm>
            <a:off x="10287000" y="6553200"/>
            <a:ext cx="127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75756C"/>
                </a:solidFill>
                <a:latin typeface="MiSans"/>
                <a:ea typeface="MiSans"/>
              </a:rPr>
              <a:t>11 / 11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11</Slides>
</Properties>
</file>

<file path=docProps/core.xml><?xml version="1.0" encoding="utf-8"?>
<cp:coreProperties xmlns:dc="http://purl.org/dc/elements/1.1/" xmlns:cp="http://schemas.openxmlformats.org/package/2006/metadata/core-properties">
  <dc:title>open-ima-architecture-talk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